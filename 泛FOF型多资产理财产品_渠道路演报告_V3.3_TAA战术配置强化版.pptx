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a03d450c4478a" /><Relationship Type="http://schemas.openxmlformats.org/officeDocument/2006/relationships/extended-properties" Target="/docProps/app.xml" Id="Rcc0bedd4567940d6" /><Relationship Type="http://schemas.openxmlformats.org/officeDocument/2006/relationships/officeDocument" Target="/ppt/presentation.xml" Id="R6fc80dae0b834e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af7a4528943d6"/>
  </p:sldMasterIdLst>
  <p:notesMasterIdLst>
    <p:notesMasterId xmlns:r="http://schemas.openxmlformats.org/officeDocument/2006/relationships" r:id="Rc4ee835929ef49f0"/>
  </p:notesMasterIdLst>
  <p:sldIdLst>
    <p:sldId xmlns:r="http://schemas.openxmlformats.org/officeDocument/2006/relationships" id="256" r:id="Re057c558439944fe"/>
    <p:sldId xmlns:r="http://schemas.openxmlformats.org/officeDocument/2006/relationships" id="257" r:id="R6f6c5166a4744c53"/>
    <p:sldId xmlns:r="http://schemas.openxmlformats.org/officeDocument/2006/relationships" id="258" r:id="R1ca5f1630eff4da6"/>
    <p:sldId xmlns:r="http://schemas.openxmlformats.org/officeDocument/2006/relationships" id="259" r:id="R99bf29ec21f64f64"/>
    <p:sldId xmlns:r="http://schemas.openxmlformats.org/officeDocument/2006/relationships" id="260" r:id="R0f2bf78a068a4e79"/>
    <p:sldId xmlns:r="http://schemas.openxmlformats.org/officeDocument/2006/relationships" id="261" r:id="R439edef372b24ffe"/>
    <p:sldId xmlns:r="http://schemas.openxmlformats.org/officeDocument/2006/relationships" id="262" r:id="Rde9ca7b75a9c45e8"/>
    <p:sldId xmlns:r="http://schemas.openxmlformats.org/officeDocument/2006/relationships" id="263" r:id="R98a6b534418f4b4c"/>
    <p:sldId xmlns:r="http://schemas.openxmlformats.org/officeDocument/2006/relationships" id="264" r:id="R8eb8b25cab784587"/>
    <p:sldId xmlns:r="http://schemas.openxmlformats.org/officeDocument/2006/relationships" id="265" r:id="R53ae3a77c0dc4457"/>
    <p:sldId xmlns:r="http://schemas.openxmlformats.org/officeDocument/2006/relationships" id="266" r:id="R439e949b5b304d47"/>
    <p:sldId xmlns:r="http://schemas.openxmlformats.org/officeDocument/2006/relationships" id="267" r:id="Rd7bdbd5c96d24e75"/>
    <p:sldId xmlns:r="http://schemas.openxmlformats.org/officeDocument/2006/relationships" id="268" r:id="R79a903c2389b48f9"/>
    <p:sldId xmlns:r="http://schemas.openxmlformats.org/officeDocument/2006/relationships" id="269" r:id="Rae31f87c43554c09"/>
    <p:sldId xmlns:r="http://schemas.openxmlformats.org/officeDocument/2006/relationships" id="270" r:id="Rc6d2e91ddcff48e3"/>
    <p:sldId xmlns:r="http://schemas.openxmlformats.org/officeDocument/2006/relationships" id="271" r:id="R1077edd77bc0408a"/>
    <p:sldId xmlns:r="http://schemas.openxmlformats.org/officeDocument/2006/relationships" id="272" r:id="R041713ffee43446a"/>
    <p:sldId xmlns:r="http://schemas.openxmlformats.org/officeDocument/2006/relationships" id="273" r:id="R64f422b1228e44c4"/>
    <p:sldId xmlns:r="http://schemas.openxmlformats.org/officeDocument/2006/relationships" id="274" r:id="Rc532b16243124a11"/>
    <p:sldId xmlns:r="http://schemas.openxmlformats.org/officeDocument/2006/relationships" id="275" r:id="Rc71207df88a04d73"/>
    <p:sldId xmlns:r="http://schemas.openxmlformats.org/officeDocument/2006/relationships" id="276" r:id="R2aac04dd349a4ea4"/>
    <p:sldId xmlns:r="http://schemas.openxmlformats.org/officeDocument/2006/relationships" id="277" r:id="R138f89c56d674ab9"/>
    <p:sldId xmlns:r="http://schemas.openxmlformats.org/officeDocument/2006/relationships" id="278" r:id="R2d08d7bb008d44dd"/>
    <p:sldId xmlns:r="http://schemas.openxmlformats.org/officeDocument/2006/relationships" id="279" r:id="R3c45e341a71b407b"/>
    <p:sldId xmlns:r="http://schemas.openxmlformats.org/officeDocument/2006/relationships" id="280" r:id="R8aa4cc3963be42ca"/>
    <p:sldId xmlns:r="http://schemas.openxmlformats.org/officeDocument/2006/relationships" id="281" r:id="Rd10d5c6bf0df4047"/>
    <p:sldId xmlns:r="http://schemas.openxmlformats.org/officeDocument/2006/relationships" id="282" r:id="Rcf971579269d4de5"/>
    <p:sldId xmlns:r="http://schemas.openxmlformats.org/officeDocument/2006/relationships" id="283" r:id="R855ff155e0e14d4d"/>
    <p:sldId xmlns:r="http://schemas.openxmlformats.org/officeDocument/2006/relationships" id="284" r:id="R909dbbe38aa94f3f"/>
    <p:sldId xmlns:r="http://schemas.openxmlformats.org/officeDocument/2006/relationships" id="285" r:id="R45404eb69e5340ec"/>
    <p:sldId xmlns:r="http://schemas.openxmlformats.org/officeDocument/2006/relationships" id="286" r:id="R9e5bf46458d3488c"/>
    <p:sldId xmlns:r="http://schemas.openxmlformats.org/officeDocument/2006/relationships" id="287" r:id="R8a2c9343a08e4e8c"/>
    <p:sldId xmlns:r="http://schemas.openxmlformats.org/officeDocument/2006/relationships" id="288" r:id="Rddc775f0dddd4c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de000842c493d" /><Relationship Type="http://schemas.openxmlformats.org/officeDocument/2006/relationships/slideMaster" Target="/ppt/slideMasters/slideMaster1.xml" Id="Rceeaf7a4528943d6" /><Relationship Type="http://schemas.openxmlformats.org/officeDocument/2006/relationships/notesMaster" Target="/ppt/notesMasters/notesMaster1.xml" Id="Rc4ee835929ef49f0" /><Relationship Type="http://schemas.openxmlformats.org/officeDocument/2006/relationships/presProps" Target="/ppt/presProps.xml" Id="Rf87b4bac67274e57" /><Relationship Type="http://schemas.openxmlformats.org/officeDocument/2006/relationships/viewProps" Target="/ppt/viewProps.xml" Id="Ra6aa7846d58349e9" /><Relationship Type="http://schemas.openxmlformats.org/officeDocument/2006/relationships/tableStyles" Target="/ppt/tableStyles.xml" Id="R3de0f60bdcf849d6" /><Relationship Type="http://schemas.openxmlformats.org/officeDocument/2006/relationships/slide" Target="/ppt/slides/slide1.xml" Id="Re057c558439944fe" /><Relationship Type="http://schemas.openxmlformats.org/officeDocument/2006/relationships/slide" Target="/ppt/slides/slide2.xml" Id="R6f6c5166a4744c53" /><Relationship Type="http://schemas.openxmlformats.org/officeDocument/2006/relationships/slide" Target="/ppt/slides/slide3.xml" Id="R1ca5f1630eff4da6" /><Relationship Type="http://schemas.openxmlformats.org/officeDocument/2006/relationships/slide" Target="/ppt/slides/slide4.xml" Id="R99bf29ec21f64f64" /><Relationship Type="http://schemas.openxmlformats.org/officeDocument/2006/relationships/slide" Target="/ppt/slides/slide5.xml" Id="R0f2bf78a068a4e79" /><Relationship Type="http://schemas.openxmlformats.org/officeDocument/2006/relationships/slide" Target="/ppt/slides/slide6.xml" Id="R439edef372b24ffe" /><Relationship Type="http://schemas.openxmlformats.org/officeDocument/2006/relationships/slide" Target="/ppt/slides/slide7.xml" Id="Rde9ca7b75a9c45e8" /><Relationship Type="http://schemas.openxmlformats.org/officeDocument/2006/relationships/slide" Target="/ppt/slides/slide8.xml" Id="R98a6b534418f4b4c" /><Relationship Type="http://schemas.openxmlformats.org/officeDocument/2006/relationships/slide" Target="/ppt/slides/slide9.xml" Id="R8eb8b25cab784587" /><Relationship Type="http://schemas.openxmlformats.org/officeDocument/2006/relationships/slide" Target="/ppt/slides/slide10.xml" Id="R53ae3a77c0dc4457" /><Relationship Type="http://schemas.openxmlformats.org/officeDocument/2006/relationships/slide" Target="/ppt/slides/slide11.xml" Id="R439e949b5b304d47" /><Relationship Type="http://schemas.openxmlformats.org/officeDocument/2006/relationships/slide" Target="/ppt/slides/slide12.xml" Id="Rd7bdbd5c96d24e75" /><Relationship Type="http://schemas.openxmlformats.org/officeDocument/2006/relationships/slide" Target="/ppt/slides/slide13.xml" Id="R79a903c2389b48f9" /><Relationship Type="http://schemas.openxmlformats.org/officeDocument/2006/relationships/slide" Target="/ppt/slides/slide14.xml" Id="Rae31f87c43554c09" /><Relationship Type="http://schemas.openxmlformats.org/officeDocument/2006/relationships/slide" Target="/ppt/slides/slide15.xml" Id="Rc6d2e91ddcff48e3" /><Relationship Type="http://schemas.openxmlformats.org/officeDocument/2006/relationships/slide" Target="/ppt/slides/slide16.xml" Id="R1077edd77bc0408a" /><Relationship Type="http://schemas.openxmlformats.org/officeDocument/2006/relationships/slide" Target="/ppt/slides/slide17.xml" Id="R041713ffee43446a" /><Relationship Type="http://schemas.openxmlformats.org/officeDocument/2006/relationships/slide" Target="/ppt/slides/slide18.xml" Id="R64f422b1228e44c4" /><Relationship Type="http://schemas.openxmlformats.org/officeDocument/2006/relationships/slide" Target="/ppt/slides/slide19.xml" Id="Rc532b16243124a11" /><Relationship Type="http://schemas.openxmlformats.org/officeDocument/2006/relationships/slide" Target="/ppt/slides/slide20.xml" Id="Rc71207df88a04d73" /><Relationship Type="http://schemas.openxmlformats.org/officeDocument/2006/relationships/slide" Target="/ppt/slides/slide21.xml" Id="R2aac04dd349a4ea4" /><Relationship Type="http://schemas.openxmlformats.org/officeDocument/2006/relationships/slide" Target="/ppt/slides/slide22.xml" Id="R138f89c56d674ab9" /><Relationship Type="http://schemas.openxmlformats.org/officeDocument/2006/relationships/slide" Target="/ppt/slides/slide23.xml" Id="R2d08d7bb008d44dd" /><Relationship Type="http://schemas.openxmlformats.org/officeDocument/2006/relationships/slide" Target="/ppt/slides/slide24.xml" Id="R3c45e341a71b407b" /><Relationship Type="http://schemas.openxmlformats.org/officeDocument/2006/relationships/slide" Target="/ppt/slides/slide25.xml" Id="R8aa4cc3963be42ca" /><Relationship Type="http://schemas.openxmlformats.org/officeDocument/2006/relationships/slide" Target="/ppt/slides/slide26.xml" Id="Rd10d5c6bf0df4047" /><Relationship Type="http://schemas.openxmlformats.org/officeDocument/2006/relationships/slide" Target="/ppt/slides/slide27.xml" Id="Rcf971579269d4de5" /><Relationship Type="http://schemas.openxmlformats.org/officeDocument/2006/relationships/slide" Target="/ppt/slides/slide28.xml" Id="R855ff155e0e14d4d" /><Relationship Type="http://schemas.openxmlformats.org/officeDocument/2006/relationships/slide" Target="/ppt/slides/slide29.xml" Id="R909dbbe38aa94f3f" /><Relationship Type="http://schemas.openxmlformats.org/officeDocument/2006/relationships/slide" Target="/ppt/slides/slide30.xml" Id="R45404eb69e5340ec" /><Relationship Type="http://schemas.openxmlformats.org/officeDocument/2006/relationships/slide" Target="/ppt/slides/slide31.xml" Id="R9e5bf46458d3488c" /><Relationship Type="http://schemas.openxmlformats.org/officeDocument/2006/relationships/slide" Target="/ppt/slides/slide32.xml" Id="R8a2c9343a08e4e8c" /><Relationship Type="http://schemas.openxmlformats.org/officeDocument/2006/relationships/slide" Target="/ppt/slides/slide33.xml" Id="Rddc775f0dddd4c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717cc84ad4b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Bank of China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lumMod val="88000"/>
                <a:satMod val="200000"/>
              </a:schemeClr>
            </a:gs>
            <a:gs pos="100000">
              <a:schemeClr val="phClr">
                <a:tint val="53000"/>
                <a:shade val="100000"/>
                <a:lumMod val="79000"/>
                <a:satMod val="3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lumMod val="90000"/>
                <a:satMod val="220000"/>
                <a:alpha val="10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lumMod val="93000"/>
                <a:satMod val="100000"/>
                <a:alpha val="100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defb54349e43a5" /><Relationship Type="http://schemas.openxmlformats.org/officeDocument/2006/relationships/notesMaster" Target="/ppt/notesMasters/notesMaster1.xml" Id="R35a320240055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7393fe27cc4e44" /><Relationship Type="http://schemas.openxmlformats.org/officeDocument/2006/relationships/notesMaster" Target="/ppt/notesMasters/notesMaster1.xml" Id="R92ac1172dde7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477a03b9034303" /><Relationship Type="http://schemas.openxmlformats.org/officeDocument/2006/relationships/notesMaster" Target="/ppt/notesMasters/notesMaster1.xml" Id="Rd79733f0976e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ee7483fdb4101" /><Relationship Type="http://schemas.openxmlformats.org/officeDocument/2006/relationships/notesMaster" Target="/ppt/notesMasters/notesMaster1.xml" Id="R143f0246796446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e2b46f101d42e7" /><Relationship Type="http://schemas.openxmlformats.org/officeDocument/2006/relationships/notesMaster" Target="/ppt/notesMasters/notesMaster1.xml" Id="Ree46be66bcf647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b84ce50464f3e" /><Relationship Type="http://schemas.openxmlformats.org/officeDocument/2006/relationships/notesMaster" Target="/ppt/notesMasters/notesMaster1.xml" Id="Rac4b62d94170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9100e024f4996" /><Relationship Type="http://schemas.openxmlformats.org/officeDocument/2006/relationships/notesMaster" Target="/ppt/notesMasters/notesMaster1.xml" Id="R45ea42654dca48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b78f30e61249f4" /><Relationship Type="http://schemas.openxmlformats.org/officeDocument/2006/relationships/notesMaster" Target="/ppt/notesMasters/notesMaster1.xml" Id="Rc240e82b3a8a46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73346981b64356" /><Relationship Type="http://schemas.openxmlformats.org/officeDocument/2006/relationships/notesMaster" Target="/ppt/notesMasters/notesMaster1.xml" Id="Rf92ed8c74c4a48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9366fa7fa14896" /><Relationship Type="http://schemas.openxmlformats.org/officeDocument/2006/relationships/notesMaster" Target="/ppt/notesMasters/notesMaster1.xml" Id="Rff0e519e864241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de18e29d6e49b3" /><Relationship Type="http://schemas.openxmlformats.org/officeDocument/2006/relationships/notesMaster" Target="/ppt/notesMasters/notesMaster1.xml" Id="Rb5276450caa643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aa200094874164" /><Relationship Type="http://schemas.openxmlformats.org/officeDocument/2006/relationships/notesMaster" Target="/ppt/notesMasters/notesMaster1.xml" Id="R86cb7e3cd62648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2f1141f3e045f9" /><Relationship Type="http://schemas.openxmlformats.org/officeDocument/2006/relationships/notesMaster" Target="/ppt/notesMasters/notesMaster1.xml" Id="R90840330757f42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b181641f714212" /><Relationship Type="http://schemas.openxmlformats.org/officeDocument/2006/relationships/notesMaster" Target="/ppt/notesMasters/notesMaster1.xml" Id="Rd38b8617c3d54a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14383a7fa44478" /><Relationship Type="http://schemas.openxmlformats.org/officeDocument/2006/relationships/notesMaster" Target="/ppt/notesMasters/notesMaster1.xml" Id="R8d366483158d45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b97e030af64ea9" /><Relationship Type="http://schemas.openxmlformats.org/officeDocument/2006/relationships/notesMaster" Target="/ppt/notesMasters/notesMaster1.xml" Id="Rc35ba955e6454a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879fe03590465b" /><Relationship Type="http://schemas.openxmlformats.org/officeDocument/2006/relationships/notesMaster" Target="/ppt/notesMasters/notesMaster1.xml" Id="R5e3f9570d34945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8c28dbead149cc" /><Relationship Type="http://schemas.openxmlformats.org/officeDocument/2006/relationships/notesMaster" Target="/ppt/notesMasters/notesMaster1.xml" Id="Rf47cbaefc0f04a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68dbffebee4949" /><Relationship Type="http://schemas.openxmlformats.org/officeDocument/2006/relationships/notesMaster" Target="/ppt/notesMasters/notesMaster1.xml" Id="R5d6adf9d93be4f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cfe435d0c54707" /><Relationship Type="http://schemas.openxmlformats.org/officeDocument/2006/relationships/notesMaster" Target="/ppt/notesMasters/notesMaster1.xml" Id="Rda63edfabd9a44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2717ddd2a94a20" /><Relationship Type="http://schemas.openxmlformats.org/officeDocument/2006/relationships/notesMaster" Target="/ppt/notesMasters/notesMaster1.xml" Id="R8e956ed7556e4e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20aa727f5947d9" /><Relationship Type="http://schemas.openxmlformats.org/officeDocument/2006/relationships/notesMaster" Target="/ppt/notesMasters/notesMaster1.xml" Id="Rbd96101bc0a242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54dcceaa744c76" /><Relationship Type="http://schemas.openxmlformats.org/officeDocument/2006/relationships/notesMaster" Target="/ppt/notesMasters/notesMaster1.xml" Id="R24ae5432b5ac41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e52c0455554afd" /><Relationship Type="http://schemas.openxmlformats.org/officeDocument/2006/relationships/notesMaster" Target="/ppt/notesMasters/notesMaster1.xml" Id="Rbbfcc4a8259d4d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b2fa84d391452f" /><Relationship Type="http://schemas.openxmlformats.org/officeDocument/2006/relationships/notesMaster" Target="/ppt/notesMasters/notesMaster1.xml" Id="R3982499e239e41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c41502a1524e8d" /><Relationship Type="http://schemas.openxmlformats.org/officeDocument/2006/relationships/notesMaster" Target="/ppt/notesMasters/notesMaster1.xml" Id="R6eed6c5a69f647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90044bacfc4bb6" /><Relationship Type="http://schemas.openxmlformats.org/officeDocument/2006/relationships/notesMaster" Target="/ppt/notesMasters/notesMaster1.xml" Id="R32ccf62555fe4e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babf25823441ec" /><Relationship Type="http://schemas.openxmlformats.org/officeDocument/2006/relationships/notesMaster" Target="/ppt/notesMasters/notesMaster1.xml" Id="R5e99b92c4de44f2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7ec67826574368" /><Relationship Type="http://schemas.openxmlformats.org/officeDocument/2006/relationships/notesMaster" Target="/ppt/notesMasters/notesMaster1.xml" Id="R36677bce6e3c4f3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e157675e864b8a" /><Relationship Type="http://schemas.openxmlformats.org/officeDocument/2006/relationships/notesMaster" Target="/ppt/notesMasters/notesMaster1.xml" Id="R8ee76cbba89442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f5aed2dbe64467" /><Relationship Type="http://schemas.openxmlformats.org/officeDocument/2006/relationships/notesMaster" Target="/ppt/notesMasters/notesMaster1.xml" Id="Rd7ef0927cee84fb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3a7154353d4765" /><Relationship Type="http://schemas.openxmlformats.org/officeDocument/2006/relationships/notesMaster" Target="/ppt/notesMasters/notesMaster1.xml" Id="R1b76d62920c94a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c97ba0ffb7d4e24" /><Relationship Type="http://schemas.openxmlformats.org/officeDocument/2006/relationships/notesMaster" Target="/ppt/notesMasters/notesMaster1.xml" Id="R9d33313ee893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用户提供的Word V2.0与PPT模板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V2.0：方案总览、渠道核心诉求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V2.0：产品管理主线与渠道服务目标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V2.0：泛FOF型理财与公募FOF差异</a:t>
            </a:r>
          </a:p>
          <a:p xmlns:a="http://schemas.openxmlformats.org/drawingml/2006/main">
            <a:r>
              <a:t>- FOF辅助材料：实施载体—公募基金与专户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V2.0：客户场景、期限设计与渠道匹配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V2.0：产品矩阵表（核心/扩展/储备/不建议）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V2.0：六类核心产品参数卡（前三类）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V2.0：六类核心产品参数卡（后三类）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V2.0：最短/推荐持有期与正收益概率图示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V2.0：客户场景与搭建方式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V2.0：SAA/TAA分层管理</a:t>
            </a:r>
          </a:p>
          <a:p xmlns:a="http://schemas.openxmlformats.org/drawingml/2006/main">
            <a:r>
              <a:t>- FOF辅助材料：投资管理六步流程与四层架构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V2.0：风险预算模型案例、核心公式、量化初始风险预算与主观校准后示例；本页为机制示例，不代表最终产品参数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V2.0：量化+主观投资决策闭环</a:t>
            </a:r>
          </a:p>
          <a:p xmlns:a="http://schemas.openxmlformats.org/drawingml/2006/main">
            <a:r>
              <a:t>- FOF辅助材料第10-12页：主观+量化决策闭环、TAA多维信息融合、量化模型演示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FOF辅助材料第11页：TAA战术资产配置框架——量化行业轮动、主观市场判断、外部买方研究输入</a:t>
            </a:r>
          </a:p>
          <a:p xmlns:a="http://schemas.openxmlformats.org/drawingml/2006/main">
            <a:r>
              <a:t>- Word V2.0：SAA/TAA分层管理、动态调整授权边界与退出纪律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V2.0：典型产品净值与合成基准图示</a:t>
            </a:r>
          </a:p>
          <a:p xmlns:a="http://schemas.openxmlformats.org/drawingml/2006/main">
            <a:r>
              <a:t>- FOF辅助材料第13页：多投资组合累计收益率示例回测；原页作者提示已删除并改为渠道可见口径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V2.0：七类资产簇表</a:t>
            </a:r>
          </a:p>
          <a:p xmlns:a="http://schemas.openxmlformats.org/drawingml/2006/main">
            <a:r>
              <a:t>- FOF辅助材料：七大资产簇分类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FOF辅助材料第4页：公募基金投研体系—主动管理型</a:t>
            </a:r>
          </a:p>
          <a:p xmlns:a="http://schemas.openxmlformats.org/drawingml/2006/main">
            <a:r>
              <a:t>- Word V2.0：公募基金与专户统一筛选和管理原则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FOF辅助材料第5页：公募基金投研体系—被动指数型</a:t>
            </a:r>
          </a:p>
          <a:p xmlns:a="http://schemas.openxmlformats.org/drawingml/2006/main">
            <a:r>
              <a:t>- Word V2.0：指数基金、指数增强与量化专户的统一比较口径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FOF辅助材料第6页：基于收益风险特征的基金聚类分类</a:t>
            </a:r>
          </a:p>
          <a:p xmlns:a="http://schemas.openxmlformats.org/drawingml/2006/main">
            <a:r>
              <a:t>- 聚类方法示例：基金池筛选、指标计算、Z-Score标准化、K-Means聚类和标签输出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FOF辅助材料第7页：基金风格动态演化与分类结构变化</a:t>
            </a:r>
          </a:p>
          <a:p xmlns:a="http://schemas.openxmlformats.org/drawingml/2006/main">
            <a:r>
              <a:t>- 公募基金及专户统一采用持续跟踪、风格漂移识别和触发复核流程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固收辅助材料第1页：市场环境与收益率曲线，数据截至2026-07-27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固收辅助材料第2页：分层配置与信用利差、转债走势</a:t>
            </a:r>
          </a:p>
          <a:p xmlns:a="http://schemas.openxmlformats.org/drawingml/2006/main">
            <a:r>
              <a:t>- Word V2.0：四类固收与转债专户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V2.0：固收/转债专户实施</a:t>
            </a:r>
          </a:p>
          <a:p xmlns:a="http://schemas.openxmlformats.org/drawingml/2006/main">
            <a:r>
              <a:t>- 固收辅助材料第3页：委外专户为主的投资架构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固收辅助材料第5页：公募REITs配置价值，数据截至2026-07-27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V2.0：10%高波动资产三种搭法及具体权重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V2.0：历史市场情景与组合管理启示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V2.0：产品质量控制表、净值与基准图、积木块归因图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V2.0：动态调整与TAA情景表</a:t>
            </a:r>
          </a:p>
          <a:p xmlns:a="http://schemas.openxmlformats.org/drawingml/2006/main">
            <a:r>
              <a:t>- FOF辅助材料：TAA多维信息融合与决策闭环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V2.0：渠道服务目标与主要服务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V2.0：渠道服务频率与特殊触发表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V2.0：渠道销售支持、客户陪伴和反向提示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V2.0：统一对外口径表与素材位建议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Word V2.0：合作主张与风险说明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9dd85083242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5e35656d94c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af04341214032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A01241-B03A-441F-B5E2-F483CB9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12192000" cy="3390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B27B15-413B-4598-817C-B79E8E9A3E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172455" y="3356992"/>
            <a:ext cx="7847089" cy="57606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E1BE026-133C-4668-BF76-70BF029EB3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5640" y="4076328"/>
            <a:ext cx="6302501" cy="43279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title" preserve="1">
  <p:cSld name="章节标题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70DF44-42A0-4641-9D28-677EC0B58A0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96640" y="2365396"/>
            <a:ext cx="4486541" cy="38109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1410">
                <a:solidFill>
                  <a:srgbClr val="000000"/>
                </a:solidFill>
                <a:latin typeface="楷体"/>
                <a:ea typeface="楷体"/>
                <a:cs typeface="楷体"/>
              </a:defRPr>
            </a:lvl1pPr>
          </a:lstStyle>
          <a:p xmlns:a="http://schemas.openxmlformats.org/drawingml/2006/main">
            <a:r>
              <a:t>第</a:t>
            </a:r>
            <a:r>
              <a:t>X</a:t>
            </a:r>
            <a:r>
              <a:t>部分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99735D9-7930-4577-8E41-FC39741508F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96640" y="2839409"/>
            <a:ext cx="10798719" cy="60975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380" b="1">
                <a:solidFill>
                  <a:srgbClr val="000000"/>
                </a:solidFill>
              </a:defRPr>
            </a:lvl1pPr>
            <a:lvl2pPr marL="44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99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48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9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47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96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46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96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章节标题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F54296-8765-4C4A-BD9F-C6872495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40" y="2777991"/>
            <a:ext cx="10798720" cy="614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0129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80664" tIns="40332" rIns="80664" bIns="403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标题和内容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066F00A-B0C3-4F49-9E7D-2A73A0641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5586" y="104099"/>
            <a:ext cx="11041227" cy="43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506561-37BB-4A20-A0B4-ED75DBEE0D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5628081"/>
          </a:xfrm>
        </p:spPr>
        <p:txBody>
          <a:bodyPr xmlns:a="http://schemas.openxmlformats.org/drawingml/2006/main" anchor="t"/>
          <a:lstStyle xmlns:a="http://schemas.openxmlformats.org/drawingml/2006/main">
            <a:lvl1pPr marL="274320" indent="-274320">
              <a:buFont typeface="Wingdings"/>
              <a:buChar char="p"/>
              <a:defRPr sz="1800">
                <a:latin typeface="+mj-ea"/>
                <a:ea typeface="+mj-ea"/>
                <a:cs typeface="+mj-ea"/>
              </a:defRPr>
            </a:lvl1pPr>
            <a:lvl2pPr marL="594360" indent="-274320">
              <a:buFont typeface="Wingdings"/>
              <a:buChar char="Ø"/>
              <a:defRPr sz="1800"/>
            </a:lvl2pPr>
            <a:lvl3pPr marL="868680" indent="-228600">
              <a:buFont typeface="Arial"/>
              <a:buChar char="•"/>
              <a:defRPr sz="1600">
                <a:latin typeface="楷体"/>
                <a:ea typeface="楷体"/>
                <a:cs typeface="楷体"/>
              </a:defRPr>
            </a:lvl3pPr>
            <a:lvl4pPr>
              <a:buNone/>
              <a:defRPr sz="1400">
                <a:latin typeface="楷体"/>
                <a:ea typeface="楷体"/>
                <a:cs typeface="楷体"/>
              </a:defRPr>
            </a:lvl4pPr>
            <a:lvl5pPr>
              <a:buNone/>
              <a:defRPr sz="1400">
                <a:latin typeface="楷体"/>
                <a:ea typeface="楷体"/>
                <a:cs typeface="楷体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7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CEDA5A87-E88A-47FB-9C25-1BB25390AE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03613" y="62085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91CBFB5-4437-4BCB-A93F-F741F374FB9D}" type="slidenum">
              <a:t>‹#›</a:t>
            </a:fld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0AFB3C56-C8F1-45E6-9A91-5F397702C7D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3392" y="6208551"/>
            <a:ext cx="439171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1400">
                <a:solidFill>
                  <a:srgbClr val="FF0000"/>
                </a:solidFill>
                <a:latin typeface="楷体"/>
                <a:ea typeface="楷体"/>
                <a:cs typeface="楷体"/>
              </a:defRPr>
            </a:lvl1pPr>
            <a:lvl2pPr marL="320040" indent="0">
              <a:buFontTx/>
              <a:buNone/>
              <a:defRPr/>
            </a:lvl2pPr>
            <a:lvl3pPr marL="640080" indent="0">
              <a:buFontTx/>
              <a:buNone/>
              <a:defRPr/>
            </a:lvl3pPr>
            <a:lvl4pPr marL="914400" indent="0">
              <a:buFontTx/>
              <a:buNone/>
              <a:defRPr/>
            </a:lvl4pPr>
            <a:lvl5pPr marL="11430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章节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e3271e8ef26a47b3" /><Relationship Type="http://schemas.openxmlformats.org/officeDocument/2006/relationships/theme" Target="/ppt/slideMasters/theme/theme2.xml" Id="R41580dc1c8e94fac" /><Relationship Type="http://schemas.openxmlformats.org/officeDocument/2006/relationships/slideLayout" Target="/ppt/slideLayouts/slideLayout1.xml" Id="Ra5400a82aa9d4558" /><Relationship Type="http://schemas.openxmlformats.org/officeDocument/2006/relationships/slideLayout" Target="/ppt/slideLayouts/slideLayout2.xml" Id="Rdfe51ff2413c4292" /><Relationship Type="http://schemas.openxmlformats.org/officeDocument/2006/relationships/slideLayout" Target="/ppt/slideLayouts/slideLayout3.xml" Id="R3b744bd80b22434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271e8ef26a47b3">
            <a:alphaModFix amt="0"/>
            <a:duotone>
              <a:schemeClr val="bg1">
                <a:shade val="20000"/>
                <a:lumMod val="125000"/>
                <a:satMod val="350000"/>
              </a:schemeClr>
              <a:schemeClr val="bg1">
                <a:tint val="90000"/>
                <a:satMod val="250000"/>
              </a:schemeClr>
            </a:duotone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8A1AC0B-777C-48CC-B2EB-58323EEDE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391" y="104099"/>
            <a:ext cx="11041227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>
            <a:solidFill>
              <a:srgbClr val="AF948F"/>
            </a:solidFill>
          </a:ln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21EBCC-4533-474D-8173-EB587335A3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392" y="536099"/>
            <a:ext cx="11041227" cy="5629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12F18BA-847B-46BB-A250-AFCA522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V="1">
            <a:off x="618580" y="6163057"/>
            <a:ext cx="5507669" cy="4571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页脚占位符 9">
            <a:extLst xmlns:a="http://schemas.openxmlformats.org/drawingml/2006/main">
              <a:ext uri="{FF2B5EF4-FFF2-40B4-BE49-F238E27FC236}">
                <a16:creationId xmlns:a16="http://schemas.microsoft.com/office/drawing/2014/main" id="{5432023F-6947-48E5-BEFE-E3972560D6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8D160B0E-2B65-4467-AEE4-3811C570C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21021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91CBFB5-4437-4BCB-A93F-F741F374FB9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00a82aa9d4558"/>
    <p:sldLayoutId xmlns:r="http://schemas.openxmlformats.org/officeDocument/2006/relationships" id="2147483650" r:id="Rdfe51ff2413c4292"/>
    <p:sldLayoutId xmlns:r="http://schemas.openxmlformats.org/officeDocument/2006/relationships" id="2147483651" r:id="R3b744bd80b224340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274320" indent="-274320" algn="l" defTabSz="914400">
        <a:spcBef>
          <a:spcPct val="20000"/>
        </a:spcBef>
        <a:buClr>
          <a:schemeClr val="accent1"/>
        </a:buClr>
        <a:buFont typeface="Arial"/>
        <a:buChar char="•"/>
        <a:defRPr sz="2400" kern="1200">
          <a:solidFill>
            <a:schemeClr val="tx2"/>
          </a:solidFill>
          <a:latin typeface="+mj-ea"/>
          <a:ea typeface="+mj-ea"/>
          <a:cs typeface="+mj-ea"/>
        </a:defRPr>
      </a:lvl1pPr>
      <a:lvl2pPr xmlns:a="http://schemas.openxmlformats.org/drawingml/2006/main" marL="594360" indent="-274320" algn="l" defTabSz="914400">
        <a:spcBef>
          <a:spcPct val="20000"/>
        </a:spcBef>
        <a:buClr>
          <a:schemeClr val="accent1"/>
        </a:buClr>
        <a:buFont typeface="Arial"/>
        <a:buChar char="•"/>
        <a:defRPr sz="22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86868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2000" kern="1200">
          <a:solidFill>
            <a:schemeClr val="tx2"/>
          </a:solidFill>
          <a:latin typeface="楷体"/>
          <a:ea typeface="楷体"/>
          <a:cs typeface="楷体"/>
        </a:defRPr>
      </a:lvl3pPr>
      <a:lvl4pPr xmlns:a="http://schemas.openxmlformats.org/drawingml/2006/main" marL="114300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2"/>
          </a:solidFill>
          <a:latin typeface="楷体"/>
          <a:ea typeface="楷体"/>
          <a:cs typeface="楷体"/>
        </a:defRPr>
      </a:lvl4pPr>
      <a:lvl5pPr xmlns:a="http://schemas.openxmlformats.org/drawingml/2006/main" marL="137160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800" kern="1200" baseline="0">
          <a:solidFill>
            <a:schemeClr val="tx2"/>
          </a:solidFill>
          <a:latin typeface="楷体"/>
          <a:ea typeface="楷体"/>
          <a:cs typeface="楷体"/>
        </a:defRPr>
      </a:lvl5pPr>
      <a:lvl6pPr xmlns:a="http://schemas.openxmlformats.org/drawingml/2006/main" marL="164592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1901825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219456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2468880" indent="-228600" algn="l" defTabSz="914400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Bank of China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lumMod val="88000"/>
                <a:satMod val="200000"/>
              </a:schemeClr>
            </a:gs>
            <a:gs pos="100000">
              <a:schemeClr val="phClr">
                <a:tint val="53000"/>
                <a:shade val="100000"/>
                <a:lumMod val="79000"/>
                <a:satMod val="3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lumMod val="90000"/>
                <a:satMod val="220000"/>
                <a:alpha val="10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lumMod val="93000"/>
                <a:satMod val="100000"/>
                <a:alpha val="100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53de350b4b3a" /><Relationship Type="http://schemas.openxmlformats.org/officeDocument/2006/relationships/notesSlide" Target="/ppt/notesSlides/notesSlide1.xml" Id="R2d58f397889b4c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9a2699513644f0" /><Relationship Type="http://schemas.openxmlformats.org/officeDocument/2006/relationships/notesSlide" Target="/ppt/notesSlides/notesSlide2.xml" Id="Rd909ffc4f446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89171fae2b454a" /><Relationship Type="http://schemas.openxmlformats.org/officeDocument/2006/relationships/notesSlide" Target="/ppt/notesSlides/notesSlide3.xml" Id="Rc532008c7edf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c0e9db735144be" /><Relationship Type="http://schemas.openxmlformats.org/officeDocument/2006/relationships/notesSlide" Target="/ppt/notesSlides/notesSlide4.xml" Id="Rdf05d8e3e273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039c6df7d04341" /><Relationship Type="http://schemas.openxmlformats.org/officeDocument/2006/relationships/notesSlide" Target="/ppt/notesSlides/notesSlide5.xml" Id="Rc034e1184e73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1b0a3ba7604ad7" /><Relationship Type="http://schemas.openxmlformats.org/officeDocument/2006/relationships/notesSlide" Target="/ppt/notesSlides/notesSlide6.xml" Id="R680d3c9a824c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36b509975946d7" /><Relationship Type="http://schemas.openxmlformats.org/officeDocument/2006/relationships/notesSlide" Target="/ppt/notesSlides/notesSlide7.xml" Id="R5081ad8c3685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692ee4e6e34503" /><Relationship Type="http://schemas.openxmlformats.org/officeDocument/2006/relationships/notesSlide" Target="/ppt/notesSlides/notesSlide8.xml" Id="R3306f8426ade43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ff53ab43854c98" /><Relationship Type="http://schemas.openxmlformats.org/officeDocument/2006/relationships/image" Target="/ppt/media/image.png" Id="R60863e37e7124f8a" /><Relationship Type="http://schemas.openxmlformats.org/officeDocument/2006/relationships/notesSlide" Target="/ppt/notesSlides/notesSlide9.xml" Id="R39e5fbf118d94e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dce90a8dda41c5" /><Relationship Type="http://schemas.openxmlformats.org/officeDocument/2006/relationships/notesSlide" Target="/ppt/notesSlides/notesSlide10.xml" Id="Rda6ab347f6d747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bf8518dd474ade" /><Relationship Type="http://schemas.openxmlformats.org/officeDocument/2006/relationships/notesSlide" Target="/ppt/notesSlides/notesSlide11.xml" Id="R0fbba62502bf48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270b0081d749b3" /><Relationship Type="http://schemas.openxmlformats.org/officeDocument/2006/relationships/notesSlide" Target="/ppt/notesSlides/notesSlide12.xml" Id="Rf9132dfd18b24e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32d15c945a478a" /><Relationship Type="http://schemas.openxmlformats.org/officeDocument/2006/relationships/image" Target="/ppt/media/image2.png" Id="Rb1e959c8445d49bd" /><Relationship Type="http://schemas.openxmlformats.org/officeDocument/2006/relationships/notesSlide" Target="/ppt/notesSlides/notesSlide13.xml" Id="R44402f668f4a41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9ce4b998014463" /><Relationship Type="http://schemas.openxmlformats.org/officeDocument/2006/relationships/notesSlide" Target="/ppt/notesSlides/notesSlide14.xml" Id="R6f8fa39a79fa4e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abe307cb34d56" /><Relationship Type="http://schemas.openxmlformats.org/officeDocument/2006/relationships/image" Target="/ppt/media/image3.png" Id="R71f3c9cfb26549ca" /><Relationship Type="http://schemas.openxmlformats.org/officeDocument/2006/relationships/notesSlide" Target="/ppt/notesSlides/notesSlide15.xml" Id="R7ca1417d08c34d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5402757c014dfa" /><Relationship Type="http://schemas.openxmlformats.org/officeDocument/2006/relationships/notesSlide" Target="/ppt/notesSlides/notesSlide16.xml" Id="R5cef62cdaf3644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f9e998484c46ca" /><Relationship Type="http://schemas.openxmlformats.org/officeDocument/2006/relationships/notesSlide" Target="/ppt/notesSlides/notesSlide17.xml" Id="R40fd8bbe84704f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5dd1c4642f4295" /><Relationship Type="http://schemas.openxmlformats.org/officeDocument/2006/relationships/notesSlide" Target="/ppt/notesSlides/notesSlide18.xml" Id="R1db236b5ad1240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7628b5bcee4b86" /><Relationship Type="http://schemas.openxmlformats.org/officeDocument/2006/relationships/image" Target="/ppt/media/image4.png" Id="R4a466bd2f13d4506" /><Relationship Type="http://schemas.openxmlformats.org/officeDocument/2006/relationships/notesSlide" Target="/ppt/notesSlides/notesSlide19.xml" Id="R6aab47cb2dc04d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47b2915ddb469b" /><Relationship Type="http://schemas.openxmlformats.org/officeDocument/2006/relationships/image" Target="/ppt/media/image5.png" Id="R8556de20d13449b6" /><Relationship Type="http://schemas.openxmlformats.org/officeDocument/2006/relationships/notesSlide" Target="/ppt/notesSlides/notesSlide20.xml" Id="R46ee482e01c046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7f7ed2a44f4398" /><Relationship Type="http://schemas.openxmlformats.org/officeDocument/2006/relationships/image" Target="/ppt/media/image6.png" Id="Rc1d5e720ca0f4d05" /><Relationship Type="http://schemas.openxmlformats.org/officeDocument/2006/relationships/image" Target="/ppt/media/image7.png" Id="R352ff714413742d5" /><Relationship Type="http://schemas.openxmlformats.org/officeDocument/2006/relationships/notesSlide" Target="/ppt/notesSlides/notesSlide21.xml" Id="R739aa213544545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130536596a46b9" /><Relationship Type="http://schemas.openxmlformats.org/officeDocument/2006/relationships/image" Target="/ppt/media/image8.png" Id="R21473a3fb3cd4c29" /><Relationship Type="http://schemas.openxmlformats.org/officeDocument/2006/relationships/image" Target="/ppt/media/image9.png" Id="R970d9ab702f746b2" /><Relationship Type="http://schemas.openxmlformats.org/officeDocument/2006/relationships/notesSlide" Target="/ppt/notesSlides/notesSlide22.xml" Id="R04392323c5fc4a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be302662d2403c" /><Relationship Type="http://schemas.openxmlformats.org/officeDocument/2006/relationships/notesSlide" Target="/ppt/notesSlides/notesSlide23.xml" Id="R72fa72eace8848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c307240d4e48ff" /><Relationship Type="http://schemas.openxmlformats.org/officeDocument/2006/relationships/image" Target="/ppt/media/image10.png" Id="R7f7b6cccad22446d" /><Relationship Type="http://schemas.openxmlformats.org/officeDocument/2006/relationships/notesSlide" Target="/ppt/notesSlides/notesSlide24.xml" Id="R693e906ca1714a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9876de5c0a4f10" /><Relationship Type="http://schemas.openxmlformats.org/officeDocument/2006/relationships/notesSlide" Target="/ppt/notesSlides/notesSlide25.xml" Id="R19f0500413f147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c35ab3392a4466" /><Relationship Type="http://schemas.openxmlformats.org/officeDocument/2006/relationships/notesSlide" Target="/ppt/notesSlides/notesSlide26.xml" Id="Rebf81582b6de41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f2a35ce83d43f1" /><Relationship Type="http://schemas.openxmlformats.org/officeDocument/2006/relationships/image" Target="/ppt/media/image11.png" Id="R45f19795d24547ca" /><Relationship Type="http://schemas.openxmlformats.org/officeDocument/2006/relationships/image" Target="/ppt/media/image12.png" Id="R2e366bc38f5c49ec" /><Relationship Type="http://schemas.openxmlformats.org/officeDocument/2006/relationships/notesSlide" Target="/ppt/notesSlides/notesSlide27.xml" Id="R390aa6b9523644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e076347e02486f" /><Relationship Type="http://schemas.openxmlformats.org/officeDocument/2006/relationships/notesSlide" Target="/ppt/notesSlides/notesSlide28.xml" Id="Ra6a319cb98334a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685aeb85f14784" /><Relationship Type="http://schemas.openxmlformats.org/officeDocument/2006/relationships/notesSlide" Target="/ppt/notesSlides/notesSlide29.xml" Id="R12a5a71e01fb459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b6c1cd79d3440f" /><Relationship Type="http://schemas.openxmlformats.org/officeDocument/2006/relationships/notesSlide" Target="/ppt/notesSlides/notesSlide30.xml" Id="R9a47a744876d4ef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230d139ada4702" /><Relationship Type="http://schemas.openxmlformats.org/officeDocument/2006/relationships/notesSlide" Target="/ppt/notesSlides/notesSlide31.xml" Id="Rbf95bbe18b8f4b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615e71aa5140ec" /><Relationship Type="http://schemas.openxmlformats.org/officeDocument/2006/relationships/notesSlide" Target="/ppt/notesSlides/notesSlide32.xml" Id="Rab21e1fb62c4480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01f32e33a042d5" /><Relationship Type="http://schemas.openxmlformats.org/officeDocument/2006/relationships/notesSlide" Target="/ppt/notesSlides/notesSlide33.xml" Id="Rb7ac72f8020242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979EA3-57D9-4E8E-AE1B-DB15DEE715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172455" y="2924944"/>
            <a:ext cx="7847089" cy="1008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泛FOF型多资产理财产品方案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20968E6-99BC-498A-AB23-6011B85486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971B2F"/>
                </a:solidFill>
                <a:latin typeface="楷体"/>
                <a:ea typeface="楷体"/>
                <a:cs typeface="楷体"/>
              </a:rPr>
              <a:t>渠道路演材料｜产品矩阵、配置框架与销售支持</a:t>
            </a:r>
          </a:p>
        </p:txBody>
      </p:sp>
      <p:sp>
        <p:nvSpPr>
          <p:cNvPr id="7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EC8F207-E91B-461B-9381-BED3C4D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584" y="4797152"/>
            <a:ext cx="7200800" cy="792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2000" kern="1200">
                <a:solidFill>
                  <a:schemeClr val="tx2"/>
                </a:solidFill>
                <a:latin typeface="+mj-ea"/>
                <a:ea typeface="+mj-ea"/>
                <a:cs typeface="+mj-ea"/>
              </a:defRPr>
            </a:lvl1pPr>
            <a:lvl2pPr marL="4572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楷体"/>
                <a:ea typeface="楷体"/>
                <a:cs typeface="楷体"/>
              </a:defRPr>
            </a:lvl3pPr>
            <a:lvl4pPr marL="13716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楷体"/>
                <a:ea typeface="楷体"/>
                <a:cs typeface="楷体"/>
              </a:defRPr>
            </a:lvl4pPr>
            <a:lvl5pPr marL="18288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楷体"/>
                <a:ea typeface="楷体"/>
                <a:cs typeface="楷体"/>
              </a:defRPr>
            </a:lvl5pPr>
            <a:lvl6pPr marL="22860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202A35"/>
                </a:solidFill>
                <a:latin typeface="宋体"/>
                <a:ea typeface="宋体"/>
                <a:cs typeface="宋体"/>
              </a:rPr>
              <a:t>V3.3</a:t>
            </a:r>
            <a:r>
              <a:rPr sz="1350">
                <a:solidFill>
                  <a:srgbClr val="202A35"/>
                </a:solidFill>
                <a:latin typeface="宋体"/>
                <a:ea typeface="宋体"/>
                <a:cs typeface="宋体"/>
              </a:rPr>
              <a:t>｜2026年7月</a:t>
            </a:r>
          </a:p>
        </p:txBody>
      </p:sp>
      <p:sp>
        <p:nvSpPr>
          <p:cNvPr id="77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8D160B0E-2B65-4467-AEE4-3811C570C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AD75FED6-38D0-DE9C-92C0-6E7FA635581C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08249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1.1  方案总览 · 核心框架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渠道先抓住四件事：客户、期限、产品与陪伴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产品矩阵不是产品清单，而是从客户需求到长期持有体验的一套销售与管理语言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1｜方案总览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E2598689-54C9-18A7-3A19-ED76AA08988F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FCFC4-A7D3-4088-AAE8-8D44FBE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5C634-DF8B-4B9F-85FE-2CC4772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0A72D-392B-4B8C-806F-3608FF98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从客户出发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902DE-5366-4815-8CE4-9EAAA111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先问资金期限、流动性与回撤承受，再锁定产品单元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1CB6D-405A-4C73-A6F7-162A34B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28750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355C3-FB14-406C-8E5A-BFF65D2B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287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67EF7-1C19-4284-AB88-A1518AD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5049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用矩阵匹配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7DCFD-FD09-4413-9FC6-998861B1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097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四类风险风格 × 四档期限，首期聚焦六类核心产品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69982-7755-4EB0-A689-56BD76C7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5B36F-8F18-499D-8EB6-BF159DAB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4F46C-D36A-454E-876D-E08A1A3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以配置管理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0819E-E8E1-416B-9171-A7BD4BFC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SAA定义长期特征，TAA处理阶段偏离，工具服从组合目标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E44ED-A73E-413A-AAE9-45EECA0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7C928-2B23-4B23-97BD-38EC9B1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577C8-8100-47BA-AAFC-054DE31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049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靠服务拿住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4D233-E4E9-4996-A8C9-1955924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净值—基准—归因—调整统一口径，覆盖售前到持有期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D837A-5D97-4787-9091-A1F2599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23499-1220-46F4-9C6E-73EC90D5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2181225" cy="64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AAC55-B4B0-4A53-B8B5-2C7D5230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1168"/>
            <a:ext cx="21812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风险风格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01830-4C91-4278-AA75-0716D16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6A00D-7014-4558-89A3-DFA33C47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2181225" cy="64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B68A35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B68A35"/>
                </a:solidFill>
                <a:latin typeface="黑体"/>
                <a:ea typeface="黑体"/>
                <a:cs typeface="黑体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9F2C7-15A9-4395-A8CE-0E11CD04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11168"/>
            <a:ext cx="21812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期限档位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55BBE-F347-461D-8AAB-6591036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42222-6BC9-44F8-8D35-283F3DB6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181225" cy="64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2F7D7C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2F7D7C"/>
                </a:solidFill>
                <a:latin typeface="黑体"/>
                <a:ea typeface="黑体"/>
                <a:cs typeface="黑体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EDC55-6398-4708-A454-5609223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1168"/>
            <a:ext cx="21812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首期核心产品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ED6D9-E48F-4205-817C-72AEF44B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F56199-4BA6-46A1-A83F-7B1DD99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181225" cy="64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3E6E8E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3E6E8E"/>
                </a:solidFill>
                <a:latin typeface="黑体"/>
                <a:ea typeface="黑体"/>
                <a:cs typeface="黑体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5BB86-9906-4FFC-AE9D-E9F1B847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1168"/>
            <a:ext cx="21812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渠道交付：看懂/卖准/拿住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9EBE0-5654-4C2C-B154-E74AB2D5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96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F46E1-E3C3-4B8B-9D63-4ECDA4F9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路演主线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A1200-67B2-4686-8220-A2F7E56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928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定位差异  →  产品矩阵  →  SAA/TAA  →  资产与工具  →  质量控制  →  渠道服务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DA03AB-13E5-4D23-8191-91232E1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DDE3E8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DDE3E8"/>
                </a:solidFill>
                <a:latin typeface="宋体"/>
                <a:ea typeface="宋体"/>
                <a:cs typeface="宋体"/>
              </a:rPr>
              <a:t>本材料帮助渠道回答：卖什么、卖给谁、为什么适合、净值波动时怎么解释。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1.2  方案总览 · 路演主线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一条主线贯穿产品设计、销售匹配与持有期沟通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每一层都回答一个渠道问题，并向下一层提供约束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1｜方案总览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202359C0-8A7A-196E-DD58-8E6569619F09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3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D9248-624E-4C78-BE96-792CCD38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1639824"/>
            <a:ext cx="1714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EC35-3E45-4F7C-8AAC-E4B90B5D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1639824"/>
            <a:ext cx="1714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B34FE-3B2D-4B8C-ACD8-84AFDC0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9824"/>
            <a:ext cx="1714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C2C8E-9155-4F5D-AECE-D7A42A4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1639824"/>
            <a:ext cx="1714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6BFC-ED28-405C-9F09-2B01E536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1639824"/>
            <a:ext cx="171450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3256F-563B-4229-8198-2BFCBC6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B431F-CA66-49E7-9E33-74191FE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客户需求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A454-A1E1-4EC3-A666-EF7C327C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A3091-2D7E-40D3-B90D-B98D25B0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产品矩阵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91C37-5E2D-43CA-8373-667D62CE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D2CAF-00AB-4536-9530-9BB7EAEB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SAA / TAA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D226B-6C22-4176-9623-DDC415A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0820E-2472-405D-8BFD-82D69DD5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资产与工具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A5FF4-5D84-47E4-9C92-F94D80A0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9D661-F918-48B1-9D5D-D32FE1D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质量控制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23309-F728-477A-9ECD-46A1EA4A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1476375"/>
            <a:ext cx="1660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67CF7-AE0F-4C04-A53D-0316498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1524000"/>
            <a:ext cx="1527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渠道陪伴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401FF-4F8E-454E-8001-A79687A3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问什么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FC622-5F23-4A1A-B044-83FA2AB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期限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流动性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回撤承受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A72F5-EAF2-4403-AABE-E18CFDF5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883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选什么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8E654-9E32-46C9-910B-0D629BD4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883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风险风格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最低持有期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核心产品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FC173-F211-427B-802C-FB559EF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怎么配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4CA1FE-D0DF-40A4-B12D-398D19C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65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长期中枢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阶段偏离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风险预算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34141-B363-4F21-8ECD-3E6B46A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怎么做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B3C25-2891-4DD9-8817-62308A7E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资产簇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策略积木块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基金/专户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2D228-5227-469D-A4BE-E6F6BD0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130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怎么看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24C4C-4EAC-413C-AD86-C7FFD7B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130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净值与基准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收益归因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偏离诊断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B34D1E-6611-4921-A824-F6440C9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00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怎么说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9A6024-E836-4BDF-AD29-E3E297E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71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售前培训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波动沟通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触发陪伴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4FD09C-3748-46DB-934A-B240B6E5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solidFill>
              <a:srgbClr val="D6DC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E5C0B1-50B8-464F-A3EC-5F263C2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渠道最终拿到的三类交付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B1EDB5-2CEE-4E6B-87EB-85EF22C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E4E81A-CBCA-4A15-9D4B-EAFAB05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E572F8-C79F-43AD-8841-201926F2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看得懂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24ADE0-5225-4EDA-A0EA-F902C0A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产品为何涨跌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当前是否仍符合定位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后续观察哪些指标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3D0213-BEF5-4E1A-8611-5D4A45DC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1B700A-6F29-4408-8C9E-797BFF8E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1B260E-889C-43CB-8E75-BA2F217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卖得准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B2A882-3E60-4BC8-846A-4946AE0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用矩阵匹配客户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用案例解释差异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用反向提示明确边界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952F07-53D6-452F-B235-D05080C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E9739B-81C2-44D4-9B07-3DB5C9B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5902D0-C340-4040-9156-F3AB7D1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拿得住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B2A4C2-9950-459A-819D-1977E51A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建立持有期预期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解释波动与回撤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特殊触发及时陪伴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2.1  产品定位 · FOF差异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泛FOF的核心差异是产品层组合管理，而不是基金集合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差异主要来自客户起点、期限设计、工具范围和管理方式，不作绝对优劣判断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2｜产品定位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EFD6AB9A-5F9E-5F59-51AB-3C8734130965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4</a:t>
            </a:fld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6381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2484"/>
                <a:gridCol w="2659063"/>
                <a:gridCol w="2260203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泛FOF型理财产品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公募FOF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客户起点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资金期限、风险承受与净值体验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基金组合风险收益目标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工具范围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基金、专户、资管计划及合规直投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原则上以公募基金为主要底层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固定收益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可直接管理或通过专户/基金实施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主要通过债券基金等间接实现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策略控制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期限、信用、杠杆、流动性与边界可统一约束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受基金合同、开放安排和管理方式约束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0B3E2-CC39-4406-94C1-FEACEDD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4191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AF8E1-F9E7-4E09-B9A6-97F8D4C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6F625-AC4C-41A2-B99B-B9A11E29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52575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渠道怎么说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2338E-B97E-4D70-8584-7C3C9971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57375"/>
            <a:ext cx="3962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不是“选更多基金”，而是先定义客户场景，再用多种合规工具实现组合目标。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优势体现在期限、风险预算和工具选择能围绕同一产品单元管理。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762E3-D6F8-43B7-9166-EFBB7C2A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1910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DFE81-D203-4CD4-93F1-F8E53AD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FADDB-2DBA-4314-84DC-5BD5838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必须同时说明的边界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0BE37-FC4C-4976-8FFA-23E88E49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3962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专户不天然优于基金；策略丰富不等于组合一定更好。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20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比较必须统一策略、区间和费后口径，并评估规模、流动性、透明度和运营成本。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D96CE-E4C5-4446-9BFF-93168330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877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490BF-4945-4C46-BB4C-E7D6F43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渠道一句话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32E1F-F009-4632-8ACD-3CA6686A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244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楷体"/>
                <a:ea typeface="楷体"/>
                <a:cs typeface="楷体"/>
              </a:defRPr>
            </a:pPr>
            <a:r>
              <a:rPr sz="1575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先确定客户需要什么样的产品，再决定使用哪些基金、专户和策略来实现。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2.2  产品定位 · 客户需求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五个问题把客户需求转化为可执行的产品选择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期限与风险风格先锁定矩阵单元，再讨论具体工具和市场观点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2｜产品定位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EE5B3003-2C54-13C6-9832-7637201064DE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5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40C3-A4E4-4BA7-BDF6-C266C07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334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F1072-46CB-4551-AE6C-D7EF02A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47589-6543-499A-80DF-62FB283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资金多久不用？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C359E-5C70-43DF-BDB3-649642C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F4771-FA07-478F-80F1-F6B21F1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255BA-8F90-484C-8BAF-FFD7D736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30 / 90 / 180 / 365天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5A667-01D2-4CB9-9F9A-B150659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34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D3B7F-08F1-4117-8D72-3F5688A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ED611-20A5-4F95-83DE-521621F1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中途是否可能用钱？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A4131-6980-43DE-A6F1-E38FE25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1782D-85F2-4ABF-9618-0D230F5E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C5489-57DA-4C48-90C3-8670081E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流动性与最低持有期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E8817-9D1B-4B2A-9522-41937532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334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0479DC-4B17-4B0B-94D0-ED95A31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6B8CB-D47B-4FDA-A7DF-EC9FB2C0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能接受多大净值波动？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9FC30-9372-4CE2-BF9F-095545C0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1BD1E-B067-457B-93FF-2BCFE08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0676B-E26A-45A7-B300-BEBE2987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稳健低波 → 进取增强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EE719-4D5F-4EBB-B91D-CDE7BA20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334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85ED0-D4B1-4BCC-B1EA-36A3B8FB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45DEE-E3AA-4630-9B81-4D7138B3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更看重稳定、增利还是成长？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178BB-2683-488C-9F4A-0E0D559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7C8E4-2A8A-4A70-899A-E263450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29B17-DF92-4E1B-9EF2-1EA4A0C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收益来源与高波动资产中枢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49751-19F0-40D7-84BE-71AE68E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5334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90DEF-18B2-4F8E-A096-A3FC7C6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6C9925-8F1E-4804-BDCC-DBF771D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是否愿意持有更长时间换取弹性？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A0DC4A-4D89-4897-A21E-C5DCAAD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E9DB1F-3A83-47F9-9B60-6E60D08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4DFB4D-82BA-4D27-A33F-05C5F24B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76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推荐持有期与客户体验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2CF3C-05FA-4B0A-BEE0-D887E8F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87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B68A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AED65F-1583-4CAF-8598-11D2EF1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725514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725514"/>
                </a:solidFill>
                <a:latin typeface="黑体"/>
                <a:ea typeface="黑体"/>
                <a:cs typeface="黑体"/>
              </a:rPr>
              <a:t>反向提示：如果期限与风险承受不匹配，应调整产品单元，而不是靠“市场看好”覆盖不匹配。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3.1  产品矩阵 · 总览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四类风险风格 × 四档期限构成完整产品矩阵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“核心”优先布局，“扩展”视需求发行，“储备”保留模型，“不建议”表示期限与风险特征不匹配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3｜产品矩阵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8C630A04-5A25-9E0C-9436-126091DB86B3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6</a:t>
            </a:fld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1447800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9609"/>
                <a:gridCol w="2036748"/>
                <a:gridCol w="2036748"/>
                <a:gridCol w="2036748"/>
                <a:gridCol w="2036748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风险风格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30天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90天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稳健低波（高波动资产0%–5%）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725514"/>
                          </a:solidFill>
                          <a:latin typeface="宋体"/>
                          <a:ea typeface="宋体"/>
                          <a:cs typeface="宋体"/>
                        </a:rPr>
                        <a:t>扩展</a:t>
                      </a:r>
                    </a:p>
                  </a:txBody>
                  <a:tcPr marL="91440" marR="91440" marT="45720" marB="45720">
                    <a:solidFill>
                      <a:srgbClr val="F6F0E3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725514"/>
                          </a:solidFill>
                          <a:latin typeface="宋体"/>
                          <a:ea typeface="宋体"/>
                          <a:cs typeface="宋体"/>
                        </a:rPr>
                        <a:t>扩展</a:t>
                      </a:r>
                    </a:p>
                  </a:txBody>
                  <a:tcPr marL="91440" marR="91440" marT="45720" marB="45720">
                    <a:solidFill>
                      <a:srgbClr val="F6F0E3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35F5D"/>
                          </a:solidFill>
                          <a:latin typeface="宋体"/>
                          <a:ea typeface="宋体"/>
                          <a:cs typeface="宋体"/>
                        </a:rPr>
                        <a:t>储备</a:t>
                      </a:r>
                    </a:p>
                  </a:txBody>
                  <a:tcPr marL="91440" marR="91440" marT="45720" marB="45720">
                    <a:solidFill>
                      <a:srgbClr val="E8F3F2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稳健增利（高波动资产0%–10%）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35F5D"/>
                          </a:solidFill>
                          <a:latin typeface="宋体"/>
                          <a:ea typeface="宋体"/>
                          <a:cs typeface="宋体"/>
                        </a:rPr>
                        <a:t>储备</a:t>
                      </a:r>
                    </a:p>
                  </a:txBody>
                  <a:tcPr marL="91440" marR="91440" marT="45720" marB="45720">
                    <a:solidFill>
                      <a:srgbClr val="E8F3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725514"/>
                          </a:solidFill>
                          <a:latin typeface="宋体"/>
                          <a:ea typeface="宋体"/>
                          <a:cs typeface="宋体"/>
                        </a:rPr>
                        <a:t>扩展</a:t>
                      </a:r>
                    </a:p>
                  </a:txBody>
                  <a:tcPr marL="91440" marR="91440" marT="45720" marB="45720">
                    <a:solidFill>
                      <a:srgbClr val="F6F0E3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均衡成长（高波动资产5%–15%）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7B8794"/>
                          </a:solidFill>
                          <a:latin typeface="宋体"/>
                          <a:ea typeface="宋体"/>
                          <a:cs typeface="宋体"/>
                        </a:rPr>
                        <a:t>不建议</a:t>
                      </a:r>
                    </a:p>
                  </a:txBody>
                  <a:tcPr marL="91440" marR="91440" marT="45720" marB="45720">
                    <a:solidFill>
                      <a:srgbClr val="ECEF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35F5D"/>
                          </a:solidFill>
                          <a:latin typeface="宋体"/>
                          <a:ea typeface="宋体"/>
                          <a:cs typeface="宋体"/>
                        </a:rPr>
                        <a:t>储备</a:t>
                      </a:r>
                    </a:p>
                  </a:txBody>
                  <a:tcPr marL="91440" marR="91440" marT="45720" marB="45720">
                    <a:solidFill>
                      <a:srgbClr val="E8F3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进取增强（高波动资产5%–25%）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7B8794"/>
                          </a:solidFill>
                          <a:latin typeface="宋体"/>
                          <a:ea typeface="宋体"/>
                          <a:cs typeface="宋体"/>
                        </a:rPr>
                        <a:t>不建议</a:t>
                      </a:r>
                    </a:p>
                  </a:txBody>
                  <a:tcPr marL="91440" marR="91440" marT="45720" marB="45720">
                    <a:solidFill>
                      <a:srgbClr val="ECEF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7B8794"/>
                          </a:solidFill>
                          <a:latin typeface="宋体"/>
                          <a:ea typeface="宋体"/>
                          <a:cs typeface="宋体"/>
                        </a:rPr>
                        <a:t>不建议</a:t>
                      </a:r>
                    </a:p>
                  </a:txBody>
                  <a:tcPr marL="91440" marR="91440" marT="45720" marB="45720">
                    <a:solidFill>
                      <a:srgbClr val="ECEF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35F5D"/>
                          </a:solidFill>
                          <a:latin typeface="宋体"/>
                          <a:ea typeface="宋体"/>
                          <a:cs typeface="宋体"/>
                        </a:rPr>
                        <a:t>储备</a:t>
                      </a:r>
                    </a:p>
                  </a:txBody>
                  <a:tcPr marL="91440" marR="91440" marT="45720" marB="45720">
                    <a:solidFill>
                      <a:srgbClr val="E8F3F2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核心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07170-F21E-41FA-89EB-98DCB00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91175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38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渠道使用顺序：先期限 → 再风险风格 → 最后比较同单元下的具体产品与实施工具。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3.2  产品矩阵 · 低波产品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前三类核心产品承接流动性、稳健与适度增利需求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低波产品仍需区分期限、久期与信用风险，增强仓不能改变产品的稳健定位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3｜产品矩阵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D3D7D1C8-AE23-AA48-DF65-C742588DBE47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7</a:t>
            </a:fld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108966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9865"/>
                <a:gridCol w="1189585"/>
                <a:gridCol w="1300613"/>
                <a:gridCol w="1665419"/>
                <a:gridCol w="1665419"/>
                <a:gridCol w="2775699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产品单元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最短持有期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推荐持有期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高波动资产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战略中枢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核心定位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稳健低波30天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60天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0%–5%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短久期、低波动和流动性优先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稳健增利90天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90天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0%–10%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固收核心加有限多策略增强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稳健增利180天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0%–10%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增加固收策略和转债空间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4A013-70BE-4D9E-8D4D-FCA2003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95994-B648-41F5-894D-28EE709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AFDBA-643A-459E-8012-C39E588D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稳健30天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741FB-2D9D-4FF3-AFBC-504C757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强调流动性与净值稳定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适合短期闲置资金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14FA7-478D-40D5-89E1-A9CE27E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FC953-8E6B-4734-9AFE-AD30881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29D06-782D-4889-B8F6-08D3A51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增利90天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65C6D-773F-4581-AEC4-5A9C39F8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以固收积累为核心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适度增强但控制回撤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AD36-5F8C-4449-A9B0-EC6402B9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44789-0B20-47DB-9692-41F5BE5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3FAED-B4CA-49CF-8FF6-1E87E7B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增利180天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CC729-CC57-4468-8E88-ECA8E03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拉长持有窗口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提高策略与收益来源弹性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3.3  产品矩阵 · 成长产品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后三类核心产品用更长持有期换取多资产收益弹性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均衡与成长类产品必须同时管理风格集中、容量、流动性与尾部风险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3｜产品矩阵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BA58DA2A-B818-18A9-29C1-B697728D5BCE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8</a:t>
            </a:fld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108966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9865"/>
                <a:gridCol w="1189585"/>
                <a:gridCol w="1300613"/>
                <a:gridCol w="1665419"/>
                <a:gridCol w="1665419"/>
                <a:gridCol w="2775699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产品单元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最短持有期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推荐持有期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高波动资产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战略中枢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核心定位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均衡成长180天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5%–15%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多风格权益及其他风险溢价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均衡成长365天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5%–15%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12%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完整的跨资产、跨周期配置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进取增强365天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5%–25%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长期风险溢价与主动管理结合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1A721-DFBC-4445-84E8-7D42C9E2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B5721-5E29-4A45-9937-2FFEA892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052C1-F1F0-4720-9398-7B236A1C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成长180天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70EB-CD18-4D13-BCF0-4D96867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跨资产均衡风险贡献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增强净值上行弹性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40C1D-A74B-4E09-96E2-D097701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C15E3-C614-4B7B-A13E-64BC533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77ECE-5F58-49C8-A04A-F86716EA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成长365天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9C2FB-E739-4441-ACB0-E4856FFC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更完整地承接权益与转债周期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强调长期持有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08B71-F051-4E4F-BC74-BB69218B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333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ADCD6-2817-473F-AD8E-169BB79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5FA4E-421B-4C0B-B036-F74C6E7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增强365天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76EA5-B435-4001-849C-4A97ECEC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9587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更高风险预算与风格暴露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适合更强承受能力客户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3.4  产品矩阵 · 持有期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最低持有期解决产品机制，推荐持有期管理客户体验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渠道同时展示两种期限，避免客户把“可赎回”误解为“短期一定盈利”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3｜产品矩阵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388657AE-30A1-5A7A-6A7F-315D84436430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9</a:t>
            </a:fld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63e37e7124f8a"/>
          <a:stretch xmlns:a="http://schemas.openxmlformats.org/drawingml/2006/main"/>
        </p:blipFill>
        <p:spPr>
          <a:xfrm xmlns:a="http://schemas.openxmlformats.org/drawingml/2006/main">
            <a:off x="764256" y="1428750"/>
            <a:ext cx="6053388" cy="32861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7191375" y="1428750"/>
          <a:ext xmlns:a="http://schemas.openxmlformats.org/drawingml/2006/main" cx="4333875" cy="22879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9779"/>
                <a:gridCol w="849779"/>
                <a:gridCol w="1317158"/>
                <a:gridCol w="1317158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最短持有期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默认推荐持有期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设计重点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主要适用单元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46720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60天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短久期、低波动和流动性优先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稳健低波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720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90天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固收底仓与有限策略增强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稳健增利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6720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180天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固收策略、转债及多资产配置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稳健增利、均衡成长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720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365天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年度配置、多资产和多风格组合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均衡成长、进取增强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D6F9C-8D70-402D-995D-082FE86B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95750"/>
            <a:ext cx="4333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A7E46-1913-4F0D-89BB-162B3B4A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95750"/>
            <a:ext cx="433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32DB4-9015-4AA2-AE22-3E3770E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71950"/>
            <a:ext cx="410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渠道表达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9FA2F-B201-4101-A45B-B4336092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76750"/>
            <a:ext cx="41052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最短持有期：产品机制允许的最短时间。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推荐持有期：更有利于跨越波动、提高稳定持有体验的时间窗口。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正收益概率须基于最终SAA、费用、现金和再平衡规则测算。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3.5  产品矩阵 · 渠道选择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渠道用“期限—风险—收益来源—体验”完成产品选择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不从某只基金或单一行情主题出发，避免产品与客户需求错位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3｜产品矩阵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DB7BEEEC-A170-5376-2B6E-CB54687B0CB1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10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7F781-A629-4370-88F7-53209D0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627251"/>
            <a:ext cx="1714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FF0B4-C931-44AF-B09D-A0679050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627251"/>
            <a:ext cx="1714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2BC9B-6390-4DB2-B237-9FF7FC8F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1627251"/>
            <a:ext cx="1714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47A67-8E7F-4320-9720-6F33D047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1627251"/>
            <a:ext cx="17145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7BD67-CB8B-423B-928C-A06AE20D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9583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2D967-22F2-42A7-A8EA-FD913A3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524000"/>
            <a:ext cx="182499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资金期限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50305-1C7D-46E8-A610-DEA492E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476375"/>
            <a:ext cx="19583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E2964-9A47-462D-8AD9-A61890C0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715" y="1524000"/>
            <a:ext cx="182499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流动性要求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5BE4-1000-41F8-9146-D62AB0A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476375"/>
            <a:ext cx="19583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0B5C3-C113-4788-9264-94C13E7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524000"/>
            <a:ext cx="182499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波动承受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4534D-F72A-4774-A98D-86090F4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1476375"/>
            <a:ext cx="19583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5A3C8-7D4E-4E46-B09D-20B0BFC3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295" y="1524000"/>
            <a:ext cx="182499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收益偏好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D964B-A028-4828-8104-B15A6C4E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1476375"/>
            <a:ext cx="19583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13F3E-9949-43CB-BEA1-D76BF8D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085" y="1524000"/>
            <a:ext cx="182499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矩阵单元</a:t>
            </a:r>
          </a:p>
        </p:txBody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647700" y="2476500"/>
          <a:ext xmlns:a="http://schemas.openxmlformats.org/drawingml/2006/main" cx="10896600" cy="24593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8011"/>
                <a:gridCol w="2528011"/>
                <a:gridCol w="2702357"/>
                <a:gridCol w="3138221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客户特征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优先判断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对应产品方向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不匹配信号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8008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短期闲置、随时可能用款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流动性与净值稳定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稳健30天 / 增利90天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只因看好权益而拉高风险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可持有半年、希望适度增利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回撤容忍与固收增强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增利180天 / 成长180天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把增强仓当作收益承诺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8008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可持有一年、追求长期弹性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权益与多资产风险贡献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成长365天 / 增强365天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不能接受阶段回撤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D3616-FE76-4622-95AA-ADABF49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028B0-6BCD-421A-95EC-7CAF712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销售纪律：客户不匹配时，调整产品单元；不要用市场观点替代适当性判断。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4.1  配置框架 · SAA/TAA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SAA定产品长期性格，TAA管理阶段性偏离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先定义目标与风险预算，再选择资产、策略和实施工具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4｜配置框架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30394428-F1DC-E5F6-DB0C-7DE31F3D8A23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11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630DA-74DF-4365-AEB2-9E5E4F4C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83817"/>
            <a:ext cx="17145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63902-F046-429D-B4F8-2448DDC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3817"/>
            <a:ext cx="17145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9192D-4FE4-4A93-B07D-BACDE6F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83817"/>
            <a:ext cx="17145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83B0C-1354-4517-B64F-5AB77F7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3817"/>
            <a:ext cx="17145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E8419-D2BD-4A6D-88B8-6137F06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83817"/>
            <a:ext cx="171450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AF16F-AEAD-4B3E-BC6B-31902C9D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18798-3BDF-424A-A8B0-8755AB8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确定产品单元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0F36E-FBC7-49B6-9657-D74E6349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1FAB6-80AA-4417-8A03-7C256E85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设置目标约束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D348-B69D-4471-9FD4-D07E2DE7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ACA12-E3F5-49D4-81F9-7A42DAC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形成SAA中枢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EB003-E368-45B3-B947-7DDD83B7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3F0FC-94D0-4395-ADD0-1407171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设定TAA范围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CDCB6-32E6-4BA8-8EE4-855833D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4AA06-8172-4A00-88AF-CEF0042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选择工具标的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D775F-DCBB-4641-A3EC-614FA45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4287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6A7C8-31A8-4AF8-8C7D-26B49BE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76375"/>
            <a:ext cx="1533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持续监控再平衡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647700" y="2457450"/>
          <a:ext xmlns:a="http://schemas.openxmlformats.org/drawingml/2006/main" cx="10896600" cy="269938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98650"/>
                <a:gridCol w="2806700"/>
                <a:gridCol w="3054350"/>
                <a:gridCol w="3136900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管理层级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回答的问题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主要输出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渠道解释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7007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SAA战略配置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长期靠哪些风险收益来源？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资产中枢、风险预算、长期基准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产品为什么具有这种长期特征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007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TAA战术配置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当前市场状态应偏离多少？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卫星仓位、触发与退出条件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阶段变化不等于改变产品定位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7007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策略/标的选择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用什么工具实现？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基金、专户、指数工具与标的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工具服从组合目标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0071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质量控制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是否持续符合定义？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净值、归因、偏离与调整建议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为什么调整、调整到什么程度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5DA46-F487-40A8-B148-5143C33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核心关系：产品矩阵 → SAA → TAA → 工具选择 → 质量控制；顺序不能倒置。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4.2  配置框架 · 风险预算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风险预算把资金权重转化为风险贡献：公式、约束与校准示例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以下为模型机制示例，并非拟发行产品最终参数；正式参数须结合资产上下限、流动性、容量和监管约束复核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4｜配置框架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4DB16885-0D3F-A391-B669-3211DB3B26E8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12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357F-F3F4-449C-B379-AC4E915A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334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02A35"/>
                </a:solidFill>
                <a:latin typeface="宋体"/>
                <a:ea typeface="宋体"/>
                <a:cs typeface="宋体"/>
              </a:rPr>
              <a:t>核心公式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202A35"/>
                </a:solidFill>
                <a:latin typeface="宋体"/>
                <a:ea typeface="宋体"/>
                <a:cs typeface="宋体"/>
              </a:rPr>
              <a:t>组合波动率：σp ＝ √(wᵀΣw)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202A35"/>
                </a:solidFill>
                <a:latin typeface="宋体"/>
                <a:ea typeface="宋体"/>
                <a:cs typeface="宋体"/>
              </a:rPr>
              <a:t>边际风险贡献：MRCᵢ ＝ (Σw)ᵢ / σp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202A35"/>
                </a:solidFill>
                <a:latin typeface="宋体"/>
                <a:ea typeface="宋体"/>
                <a:cs typeface="宋体"/>
              </a:rPr>
              <a:t>策略风险贡献：RCᵢ ＝ wᵢ × MRCᵢ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202A35"/>
                </a:solidFill>
                <a:latin typeface="宋体"/>
                <a:ea typeface="宋体"/>
                <a:cs typeface="宋体"/>
              </a:rPr>
              <a:t>相对风险贡献：RRCᵢ ＝ RCᵢ / σp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275">
                <a:solidFill>
                  <a:srgbClr val="202A3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02A35"/>
                </a:solidFill>
                <a:latin typeface="宋体"/>
                <a:ea typeface="宋体"/>
                <a:cs typeface="宋体"/>
              </a:rPr>
              <a:t>优化目标：min Σᵢ(RRCᵢ − bᵢ)²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61F5-21DA-4CA6-B950-1D6D52E9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7B8794"/>
                </a:solidFill>
                <a:latin typeface="宋体"/>
                <a:ea typeface="宋体"/>
                <a:cs typeface="宋体"/>
              </a:rPr>
              <a:t>w：资金权重向量　Σ：协方差矩阵　σp：组合波动率　bᵢ：目标风险预算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9E18A-4A4F-4E1E-8AE3-6D1280AF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85C4F-FA2F-4074-96A1-46ED683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FDDF7-6A18-4365-81D7-B8A7136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3811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输入参数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7E114-D0EF-4E29-81C7-5881A9B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81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资金权重、波动率、相关性与资产约束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3259C-2450-46E4-A664-AB1B832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95475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4CE14-BAFB-4EBF-8996-269F1C8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954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FDB4C-D2A3-4CB6-9E2E-659335E4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954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计算贡献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1E318-2147-4FB5-81CE-D84425C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954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先求σp，再计算MRCᵢ、RCᵢ与RRCᵢ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A07F8-37A6-4F76-B806-F71D40E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B34B5-33FE-420C-8E51-E869A133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8793B-9F3F-4D33-B337-74F38A8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098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比较预算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F3D5A-9274-49F8-B2C0-8F4DB00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98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比较实际RRCᵢ与目标bᵢ的偏离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F9757-C466-45A8-BB0B-FA62B77F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D2FCE-3F0B-43EC-B73A-B146FA2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83C8E-B84D-4301-B1AB-3B186C0E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241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约束求解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54809-CA9D-404F-AAC4-FBB4CE7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241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在上下限、流动性和容量约束下调整权重</a:t>
            </a:r>
          </a:p>
        </p:txBody>
      </p:sp>
      <p:graphicFrame>
        <p:nvGraphicFramePr>
          <p:cNvPr id="71" name=""/>
          <p:cNvGraphicFramePr/>
          <p:nvPr/>
        </p:nvGraphicFramePr>
        <p:xfrm>
          <a:off xmlns:a="http://schemas.openxmlformats.org/drawingml/2006/main" x="647700" y="3619500"/>
          <a:ext xmlns:a="http://schemas.openxmlformats.org/drawingml/2006/main" cx="752475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2978"/>
                <a:gridCol w="1308652"/>
                <a:gridCol w="1308652"/>
                <a:gridCol w="2944467"/>
              </a:tblGrid>
              <a:tr h="3714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风险来源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量化初始风险预算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主观校准后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校准依据（示例）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3333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固收票息与久期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76%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票息可见度较高，同时约束久期和信用尾部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红利与低波权益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估值仍有支撑，但交易拥挤度上升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333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科技成长权益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盈利弹性较高，但波动率和拥挤度偏高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黄金及商品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7%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7%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保留对冲通胀、地缘和股债共振风险的预算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333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绝对收益与对冲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结合策略容量、流动性和实盘稳定性控制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E614E-2C8E-4D8A-8C8E-8A0B720B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主观校准后的目标风险预算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0B9A4-FA7A-4C1C-B7C7-89ACA13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624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固收票息与久期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80B88-DB4B-4690-B6C5-02451718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0025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solidFill>
              <a:srgbClr val="E7EA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4F428-2F65-443A-BBB7-995052D2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0025"/>
            <a:ext cx="149304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4F421-59B4-4358-BD6E-CBF8CC9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962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938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76%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58565-556D-4450-856E-6CF8A1C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红利与低波权益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EA141-08DD-4D6A-A845-0CEFE319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solidFill>
              <a:srgbClr val="E7E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D05E2-FBE1-473D-8916-D209D1B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571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556480-F968-442E-AFBA-8B89E92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148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2F7D7C"/>
                </a:solidFill>
                <a:latin typeface="黑体"/>
                <a:ea typeface="黑体"/>
                <a:cs typeface="黑体"/>
              </a:defRPr>
            </a:pPr>
            <a:r>
              <a:rPr sz="938" b="1">
                <a:solidFill>
                  <a:srgbClr val="2F7D7C"/>
                </a:solidFill>
                <a:latin typeface="黑体"/>
                <a:ea typeface="黑体"/>
                <a:cs typeface="黑体"/>
              </a:rPr>
              <a:t>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4F845-27E6-4F48-BE3A-02DB285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科技成长权益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6E77C-C201-4BB2-8B5D-0C5D0B0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14875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solidFill>
              <a:srgbClr val="E7EA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30BFB6-878B-4D57-B23D-BCBAC7D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14875"/>
            <a:ext cx="7858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67D4E-08A8-4BD2-9F89-3B678B76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667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B68A35"/>
                </a:solidFill>
                <a:latin typeface="黑体"/>
                <a:ea typeface="黑体"/>
                <a:cs typeface="黑体"/>
              </a:defRPr>
            </a:pPr>
            <a:r>
              <a:rPr sz="938" b="1">
                <a:solidFill>
                  <a:srgbClr val="B68A35"/>
                </a:solidFill>
                <a:latin typeface="黑体"/>
                <a:ea typeface="黑体"/>
                <a:cs typeface="黑体"/>
              </a:rPr>
              <a:t>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44C439-DBFD-4467-AE09-E5DD4CD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黄金及商品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F74DEC-FB62-4806-8F43-7A1043FB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67300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solidFill>
              <a:srgbClr val="E7E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D1A09B-CE9B-4FE4-AACF-6C924D2B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67300"/>
            <a:ext cx="13751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1A5"/>
          </a:solidFill>
          <a:ln xmlns:a="http://schemas.openxmlformats.org/drawingml/2006/main" w="0">
            <a:solidFill>
              <a:srgbClr val="7E91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994CC2-05F1-403F-A453-FE8E14C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196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7E91A5"/>
                </a:solidFill>
                <a:latin typeface="黑体"/>
                <a:ea typeface="黑体"/>
                <a:cs typeface="黑体"/>
              </a:defRPr>
            </a:pPr>
            <a:r>
              <a:rPr sz="938" b="1">
                <a:solidFill>
                  <a:srgbClr val="7E91A5"/>
                </a:solidFill>
                <a:latin typeface="黑体"/>
                <a:ea typeface="黑体"/>
                <a:cs typeface="黑体"/>
              </a:rPr>
              <a:t>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278523-CFDB-45DF-998B-9148D0BE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721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3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绝对收益与对冲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17720D-EF2A-47BC-9B8F-58331D7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19725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solidFill>
              <a:srgbClr val="E7EA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D31D14-D88C-45F6-A106-7C3B61D4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19725"/>
            <a:ext cx="982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A61"/>
          </a:solidFill>
          <a:ln xmlns:a="http://schemas.openxmlformats.org/drawingml/2006/main" w="0">
            <a:solidFill>
              <a:srgbClr val="B65A6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7AC0F5-0DB1-4BD0-B9D6-C116531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3721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B65A61"/>
                </a:solidFill>
                <a:latin typeface="黑体"/>
                <a:ea typeface="黑体"/>
                <a:cs typeface="黑体"/>
              </a:defRPr>
            </a:pPr>
            <a:r>
              <a:rPr sz="938" b="1">
                <a:solidFill>
                  <a:srgbClr val="B65A61"/>
                </a:solidFill>
                <a:latin typeface="黑体"/>
                <a:ea typeface="黑体"/>
                <a:cs typeface="黑体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4.3  配置框架 · 决策闭环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量化模型提供纪律化信号，研究判断负责校准与解释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模型输出风险状态与资产倾向，TAA在授权范围内执行，并在触发条件满足后回归SAA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4｜配置框架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2DD23107-4986-8758-3A93-3D74F35908CC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13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3472C-4101-4B6B-92CD-74E6A48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76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5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F4FB8-942A-441C-8B2F-CDDFE10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76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5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4A14D-0167-4D0F-B291-AE48AE49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5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17EAC-F72E-4BB0-8B20-1FF9D2B2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5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39E76-6E4A-432E-A919-C44F98E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76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5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07AA5-A866-48C3-AF37-59ADB14E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01  数据输入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增长 / 通胀 / 流动性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71D53-F2CA-404A-AA7E-36F5ECB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02  状态识别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估值 / 趋势 / 波动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D270D-E5E1-4EDB-9EE1-E7D4A614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03  模型输出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风险状态 / 资产倾向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3EA88-8780-483E-A6E9-80879A4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04  研究校准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制度 / 盈利 / 拥挤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E109D-F186-470D-B3B9-A84F6A9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05  TAA执行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幅度 / 有效期 / 退出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E3854-F3B3-47C6-9B72-D305005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06  持续复核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 / 归因 / 回归SAA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A32CC-FCAE-45BA-8A6B-EFA181E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模型输入与输出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输入：增长、通胀、流动性、估值、趋势与波动
输出：风险状态、资产倾向评分与允许偏离范围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9F929-EF35-410F-892D-6CC5736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B0856-6BA7-4998-A502-A2A5977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研究校准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识别制度、盈利、拥挤和容量变化
判断参数有效期，明确校准依据和退出条件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06261-E44D-4CF7-A0D6-D64ED0B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48BE0-4F71-4208-8021-C2440405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风险纪律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调整不突破授权范围；执行后持续复核净值与归因
条件满足后逐步回归产品SAA中枢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25202-FA54-4E03-BCA1-F763AC0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959c8445d49bd"/>
          <a:stretch xmlns:a="http://schemas.openxmlformats.org/drawingml/2006/main"/>
        </p:blipFill>
        <p:spPr>
          <a:xfrm xmlns:a="http://schemas.openxmlformats.org/drawingml/2006/main">
            <a:off x="4974470" y="2457450"/>
            <a:ext cx="6195934" cy="2952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BF914-AF46-497E-A7DA-5DB0776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877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EFCFD-F6B7-4F88-81D6-E3AA7637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088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渠道口径：量化模型提供纪律化信号，主观研究负责解释和校准，风险规则约束幅度、期限与退出。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4.4  配置框架 · TAA战术行业配置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三类信息交叉验证后形成行业权重，执行全过程保留边界与退出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在SAA长期配置基础上，TAA仅在授权范围内调整行业权重，并明确触发依据、调整幅度、有效期限与退出条件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4｜配置框架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327921A4-25C4-3DB4-06B1-32693CEE2241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14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06E27-C23C-49D4-BB78-C2847B05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5052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A6E7A-62A6-48B2-AA99-703CD3CA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50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6C261-EF2E-4218-82D5-8191ECF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E6E8E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3E6E8E"/>
                </a:solidFill>
                <a:latin typeface="黑体"/>
                <a:ea typeface="黑体"/>
                <a:cs typeface="黑体"/>
              </a:rPr>
              <a:t>量化行业轮动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81747-C8C0-486B-96C7-9B27ADC7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模型提供方向、强度与拥挤度信号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33A6-41A8-4A70-97FD-8710B9F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CB33E-9A1F-4D0D-90E3-C25BD0B0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1049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趋势信号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右侧进入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21AA3-D874-47A5-93F1-F891175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47900"/>
            <a:ext cx="20764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市场投票结果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顺应一致预期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捕捉有效趋势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9CEB8-8A59-4855-AA55-3E663D92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7038"/>
            <a:ext cx="110490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拥挤度信号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左侧退出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AA644-10CE-47B9-98F7-DBA5A94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67038"/>
            <a:ext cx="2076450" cy="7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识别羊群效应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监测非理性行为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控制极端拥挤风险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F575C-DA80-4B79-97D6-AF88E6B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5052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F1C50-7F03-4EEC-8FCE-23F75E0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50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76F2D-FB7E-43F7-A1DF-B9BE820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68A35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B68A35"/>
                </a:solidFill>
                <a:latin typeface="黑体"/>
                <a:ea typeface="黑体"/>
                <a:cs typeface="黑体"/>
              </a:rPr>
              <a:t>主观市场判断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DF751-2C80-4658-B4DB-4EB9E35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02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结合宏观与市场环境进行方向修正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9A100-3D3C-4CB4-B2C4-5583FB3A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430EE-8F38-4F17-9E2A-6D9A690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风险偏好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3BAD2-8920-43CC-A9C9-49F34F1B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判断资金参与意愿及权益配置环境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FDD88-F982-4CA3-AD4A-19D2EC63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7469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流动性环境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131F-E749-473E-8651-2B11D54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7469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关注政策周期、资金面和信用条件变化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4F19D-870F-4C5C-B49C-CB23EB8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67038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风格切换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F0050-571A-4034-BA0D-E62CDB5F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67038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识别成长、价值及行业轮动方向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4DD80-3749-4B61-9ABC-1E8E0F9B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26606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风险事件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4259B-7389-4993-B75B-220BF9D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26606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评估冲击路径并调整组合风险暴露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18B53-F1CB-4367-A41A-8641030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81125"/>
            <a:ext cx="35052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B0B5E2-9295-4F86-B645-CEC5E0CC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81125"/>
            <a:ext cx="350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9C229E-2A3B-4A5B-A82A-F1972CA2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954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7D7C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2F7D7C"/>
                </a:solidFill>
                <a:latin typeface="黑体"/>
                <a:ea typeface="黑体"/>
                <a:cs typeface="黑体"/>
              </a:rPr>
              <a:t>外部买方研究输入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75571-81F6-47AC-B526-B0FAF7AA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02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补充量化模型难以覆盖的产业与基本面信息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9486C-923B-4D5A-9C07-C7FFB70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3EB1F6-F6FD-48DC-9335-A99B3E64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基金公司路演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552C67-1101-4A91-BB94-8D8B8C38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获取基金经理配置思路与组合变化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9F221-436B-45DF-AFAA-26DB12F7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7469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券商策略观点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5944BB-49E7-41D3-B006-24B8FAD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7469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跟踪市场趋势、风格与行业判断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F193A-DA86-4DCB-8C53-D485AEB3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7038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行业调研交流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40422-2F65-46E4-84F3-9470B1A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67038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了解产业景气、供需与竞争格局变化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BD357F-7BBE-468B-8AFC-32EEFCD4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6606"/>
            <a:ext cx="110490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99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基本面验证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228957-9C68-46B1-AB35-55C52D5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26606"/>
            <a:ext cx="20764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6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交叉核验行业判断与盈利假设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224C62-D835-4FE7-8615-2689122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24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442B89-CBE8-4224-8F44-CA6A8A1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24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B2ACC4-3FE6-4BFA-987F-5F97084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24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F2A8C-3116-486F-A5FF-103B980A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24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1AAC9B-2990-430F-AFB6-D3FEAE1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01  多维信息融合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量化＋主观＋外部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36C084-42CE-4ACB-B5FA-1D8EF534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02  一致性检验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方向＋强度＋时效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A528F6-7D6F-4896-ACFA-3544AC2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03  行业权重调整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相对SAA中枢偏离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FAC567-E2C1-46DF-9ADE-0A78BEC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386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04  TAA方案执行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幅度＋期限＋退出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360E46-0B29-4EC0-B1EF-19C3072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19050">
            <a:solidFill>
              <a:srgbClr val="2F7D7C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05  组合持续复核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收益增强＋风险控制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9DCD48-4C86-4E73-9A50-616AE71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5A5F86-D4E2-4F10-9412-351BBE16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6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06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授权边界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09CD54-7968-4F4F-8132-AEC1EEF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67275"/>
            <a:ext cx="248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5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5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不突破产品风险预算、资产上下限与集中度约束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315AE3-C525-4E5D-8D96-C74E032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0125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5301B1-1CA7-4196-A3E7-D36984FF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6727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6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06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冲突处理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4DD7FB-F437-42F7-979B-20A816D4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867275"/>
            <a:ext cx="248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5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5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量化与研究结论不一致时，降低幅度或延后执行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2ABEB2-C31D-41BD-BF87-7F7DDF5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89671F-CFC2-4FED-8C0B-465DFEE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6727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6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06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退出纪律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945A5E-F9A5-4D96-A4C2-959EE96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867275"/>
            <a:ext cx="248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95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5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信号失效、拥挤上升或条件达成后逐步回归SAA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05A74D-4E21-4CDE-94FF-7DA5D00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FBF514-5B5E-48AB-8537-146B24A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73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073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渠道口径：TAA不是脱离SAA的短期押注，而是有依据、有边界、有期限、有退出的战术行业配置。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4.5</a:t>
            </a: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  配置框架 · 产品案例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示例回测显示积木块配比改变收益路径，也同步改变风险暴露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回测用于解释产品差异，不用于承诺收益；正式外发须同步披露波动、回撤、费用和再平衡规则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4｜配置框架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EA83FA91-883A-0168-8075-96CEB9DCA3C2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15</a:t>
            </a:fld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3c9cfb26549ca"/>
          <a:stretch xmlns:a="http://schemas.openxmlformats.org/drawingml/2006/main"/>
        </p:blipFill>
        <p:spPr>
          <a:xfrm xmlns:a="http://schemas.openxmlformats.org/drawingml/2006/main">
            <a:off x="655507" y="1409700"/>
            <a:ext cx="779488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0B783-5A50-4880-9739-138232AE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09700"/>
            <a:ext cx="2809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1｜渠道怎么看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同一债券底仓下，进攻、均衡和防御积木块比例不同，会形成不同的累计收益路径。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0E163-7BA2-438B-B9D6-B4BCB433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09700"/>
            <a:ext cx="2809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B5412-A8F3-4FAF-9EC6-6939FDC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809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2｜必须同时展示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累计收益之外，还需同步展示年化波动、最大回撤、回撤修复期及推荐持有期。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A6A72-88CD-49E0-A749-00E8691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809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6C4ED-4CFF-476C-915A-0B38B045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24300"/>
            <a:ext cx="2809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3｜正式发布前复核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确认数据区间、费后口径、基准规则、再平衡频率、交易约束及实盘/回测/模拟属性。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0261F-BE34-4E97-BDD5-6ED1D88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24300"/>
            <a:ext cx="2809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527E5-DF97-4FDB-8001-4DC9CD5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08775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3E61A-FDF0-42FB-BFC9-26FFB60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62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163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案例页结论应落到：为什么形成不同路径、是否仍符合产品定位、客户需要持有多久。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5.1  资产与工具 · 资产簇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七类资产簇覆盖主要风险收益来源，并明确各自组合功能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先识别收益来源与风险，再选择具体基金、专户或其他实施工具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5｜资产与工具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DC9C7607-4BA3-B4DC-A00F-2E67A9FCFF7E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16</a:t>
            </a:fld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10896600" cy="37966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7983"/>
                <a:gridCol w="2979539"/>
                <a:gridCol w="2809280"/>
                <a:gridCol w="3149798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资产簇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主要收益来源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组合功能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短久期固收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票息、期限利差、适度骑乘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流动性、基础收益和净值稳定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资金面、信用、流动性、再投资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中等久期配置固收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票息、骑乘、信用利差、资本利得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产品核心配置和收益积累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久期、信用利差、杠杆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长久期交易固收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久期、曲线和波段交易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提高固收收益弹性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利率反向变化和交易时点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可转债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债底、正股、波动率和个券选择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提供固收与权益之间的非线性收益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正股、估值、信用、赎回和流动性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权益Beta/Alpha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权益风险溢价、风格和管理人Alpha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长期增长和收益弹性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市场、风格、行业、管理人、流动性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商品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趋势、通胀和地缘风险溢价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分散股债共振风险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趋势反转、波动、汇率、跟踪误差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2509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绝对收益与对冲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市场中性、套利、多策略和对冲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降低方向性依赖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基差、模型、杠杆、容量和尾部风险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DE670-332D-4EF6-8FB1-31E28A1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38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组合分散优先跨资产簇和策略簇实现，而不是简单增加基金数量。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5.2  资产与工具 · 主动基金筛选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主动基金筛选不是简单排名，而是验证超额收益能否持续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从可投池、定量评价、定性尽调到组合构建和退出，形成可复核的闭环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5｜资产与工具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90F7333B-44AC-F7E9-D49D-FE92F45E0477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17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1C3FF-6945-4555-944E-17D179B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0D475-0ED9-4CBB-8FC9-631A51AD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F4AD2-C531-431C-928D-558F0FD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C000E-75E3-4738-AFDD-C43466F6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67D58-B41E-411E-8CD5-3A8FB1C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02692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DFE11-34FB-41BF-85D0-0ACB1F2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28750"/>
            <a:ext cx="1893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可投池构建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6C4E6-9CCC-407B-9B56-F76E976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1381125"/>
            <a:ext cx="202692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816E5-9752-447B-889E-4575624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1428750"/>
            <a:ext cx="1893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定量评价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2A5A4-B09E-4F9B-A959-8EEF6E13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381125"/>
            <a:ext cx="202692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82F87-994D-42FE-B627-1568A491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215" y="1428750"/>
            <a:ext cx="1893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定性尽调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89F92-AB4A-4E0B-A471-92F1514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381125"/>
            <a:ext cx="202692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236A9-0C51-4304-8CF6-E642F99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1428750"/>
            <a:ext cx="1893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组合构建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665E1-DDBD-42F9-B956-34A0780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381125"/>
            <a:ext cx="202692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B1F72-3414-4071-80E0-AD43DF10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955" y="1428750"/>
            <a:ext cx="1893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跟踪与退出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47700" y="2076450"/>
          <a:ext xmlns:a="http://schemas.openxmlformats.org/drawingml/2006/main" cx="10896600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5074"/>
                <a:gridCol w="3736474"/>
                <a:gridCol w="3562684"/>
                <a:gridCol w="2172368"/>
              </a:tblGrid>
              <a:tr h="3619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核心检查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证据与方法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形成的决策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4857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可投池构建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规模、日均成交额、成立年限、经理任职年限、机构持有稳定性、合规负面清单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同类策略、同区间、同费后口径建立可比样本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进入可投池或列入观察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定量评价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超额收益、分年度胜率、滚动排名、波动率、最大回撤、Calmar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Brinson拆分配置与选股；Barra检验风格暴露和漂移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判断收益来源、稳定性与尾部风险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定性尽调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投资理念、决策框架、能力圈边界、团队平台、言行与持仓一致性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访谈、持仓穿透、归因复核、团队稳定性验证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确认超额收益是否可持续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组合构建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风格互补、相关性、单只基金与单一管理人集中度、产品特征匹配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比较加入前后的收益分布、波动、回撤和流动性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决定配置权重与替代关系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4857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跟踪与退出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月度净值与回撤；季度持仓和风格漂移；半年度归因复核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经理变更、规模突变、风格漂移、连续跑输基准或合规声誉事件触发复核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保留、降权、替换或退出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8B76F-7F4B-4A84-B4FA-DA8DB59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7000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125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05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05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公募基金与专户统一标准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05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05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专户与公募基金使用同一套可投池、定量评价、定性验证、组合适配和持续跟踪流程；专户管理人包括内部投资经理与合作机构投资经理，均纳入统一评价。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CA979-2BDD-4E70-8B45-3BD532B4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700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1EE09-F3B2-4A1A-B6F0-76A0ECB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67300"/>
            <a:ext cx="3667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263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9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专户额外核验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合同授权、容量、杠杆、流动性、信息透明度、预警与回撤处置。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8D042-5814-4A29-8DE0-84D8A5DB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67300"/>
            <a:ext cx="366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5.3  资产与工具 · 指数基金筛选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指数工具的专业度在于控制损耗、成本并获取可持续增强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先判断指数收益上限，再逐项压缩跟踪损耗和交易成本，最后评估增强收益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5｜资产与工具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B1C6C81E-38B9-7560-621D-5A151A79DF9B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18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11D5C-21CA-4CBB-9E9E-6F605590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F3E2D-6EE9-45D4-8E97-01C8E87D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573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组合实际收益 ＝ 指数收益 － 跟踪损耗 － 交易成本 ＋ 增强收益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8966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730"/>
                <a:gridCol w="3127423"/>
                <a:gridCol w="3868128"/>
                <a:gridCol w="2551319"/>
              </a:tblGrid>
              <a:tr h="3619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5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收益环节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5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筛选重点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5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核心指标与检查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5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组合管理含义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238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指数收益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编制规则透明、样本空间合理、加权方式与调样规则可执行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行业/风格暴露、集中度、容量、成分股流动性；区分宽基、行业主题与Smart Beta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决定收益上限和长期风险暴露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跟踪损耗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识别同一指数下的效率分化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年化跟踪误差、日均跟踪偏离、费率、现金拖累、申赎与分红时点、规模门槛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优先选择稳定、可解释的复制效率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238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交易成本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评估场内ETF、场外联接及不同交易路径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买卖价差、IOPV偏离、冲击成本、规模与日均成交量；避免调样日和分红日拥挤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决定实际可执行成本和流动性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增强收益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合规增厚且不能破坏指数定位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打新、证券借贷、股指期货替代、成分股轮动；检查容量、基差和合规边界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1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把可持续增强与偶然收益分开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C2128-E210-4E46-B520-7B7FE5A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05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核心—卫星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被动工具承担市场收益，主动或增强工具承接可验证的超额收益。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4C163-FFE3-41D2-9D86-4DB8E21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00785-E743-49E0-A40A-FA5E4CDF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05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合并暴露监控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13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13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主动与被动的行业、风格和因子暴露合并计算，避免重复下注。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7D243-CCEA-4283-B263-BCE04BAE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EB0CE-F49B-46A7-BF15-50F02C7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189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9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统一管理口径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指数基金、指数增强公募及量化专户均按同一收益分解和再平衡规则复核。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6C9B5-83F3-49E1-8C57-F7B4ABBB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5D145-7393-4DD7-BB37-BD7546E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6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06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专户管理人覆盖内部投资经理与合作机构投资经理；评价标准一致，专户另行核验授权、容量、杠杆、流动性和透明度。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5.4  资产与工具 · 量化聚类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量化聚类把“名义风格”转化为可比较的收益风险画像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基于同一观察期和频率计算核心指标，经标准化和K-Means聚类后输出进取、平衡与防守标签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5｜资产与工具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CCF91274-D221-1BB4-3BF9-836E3AD31EBE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19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BCE2B-BEB1-45F0-AEDF-6B1D0A4C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1｜基金池初筛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剔除成立时间短、规模过小、缺失值过多及不可投样本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2C2C4-8DE2-4446-8F6D-3103E20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99251-92FA-48D9-B0C4-BC517275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2｜核心指标计算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年化收益、夏普比率、最大回撤、波动率及回撤修复特征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8A76A-3679-4146-8A90-482E7A51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47BD0-8F15-43B6-8AB8-2F327D95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3｜数据标准化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采用Z-Score消除量纲差异，确保不同指标可比较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33B32-20A0-4836-BE9F-392213E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20A0E-8FA6-432F-9F22-0E63520F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443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4｜K-Means聚类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按收益能力、波动控制、回撤控制和风险收益比识别内在特征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2A892-8B23-4175-9F67-B849114D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EF6B8-891F-4550-9F43-49B67CB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342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17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5｜风格标签输出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6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6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形成进取型、平衡型、防守型画像，并进入组合约束与持续监测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3492A-E3F1-4DEF-A78C-F55A2E24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66bd2f13d4506"/>
          <a:stretch xmlns:a="http://schemas.openxmlformats.org/drawingml/2006/main"/>
        </p:blipFill>
        <p:spPr>
          <a:xfrm xmlns:a="http://schemas.openxmlformats.org/drawingml/2006/main">
            <a:off x="4333875" y="1514220"/>
            <a:ext cx="7191375" cy="321043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56EB1-2013-480E-92B0-6D13B435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7191375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8D236-40DC-4AF7-B06A-0C1093E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95875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6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06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公募基金和专户使用同一指标、同一标准化与聚类流程；专户管理人包括内部投资经理和合作机构投资经理。标签反映当前状态，不是永久结论。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5.5  资产与工具 · 风格跟踪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分类标签不是永久结论，市场状态变化会推动基金画像迁移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持续跟踪收益、波动、回撤、持仓和风险因子，识别风格漂移并触发再评估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5｜资产与工具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844E025A-983C-6D44-79C6-4612AACD43FC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20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C74F-28EF-42A9-A1F4-27F42677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3A92F-45A6-442D-AFF1-CA604B7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8DFD8-BBC8-4B17-A5C1-A4D65B1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1502664"/>
            <a:ext cx="1714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F29A1-7A90-4B4D-868D-12FDEA4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576513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009E3-503F-485B-AC91-73002738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28750"/>
            <a:ext cx="24431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宏观环境变化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1DE44-81D0-4912-AF17-38E0499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381125"/>
            <a:ext cx="2576513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C5378-D24E-424D-A74A-797B4E7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1428750"/>
            <a:ext cx="24431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市场状态变化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C7896-15CF-441A-B3EA-B82E930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81125"/>
            <a:ext cx="2576513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120D1-C83A-4614-8A55-9A41760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24431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基金收益风险特征变化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E00A9-57C2-4FF9-9410-C060848A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381125"/>
            <a:ext cx="2576513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AD211-03AB-4832-A697-DB8EF3EF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428750"/>
            <a:ext cx="24431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标签迁移与组合调整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58102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4029"/>
                <a:gridCol w="2666814"/>
                <a:gridCol w="2099407"/>
              </a:tblGrid>
              <a:tr h="3619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跟踪层次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公募基金与专户统一检查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主要触发信号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905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月度表现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净值、基准、波动率、最大回撤、回撤修复及费后超额收益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连续跑输基准、波动或回撤明显超出同类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季度穿透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持仓结构、行业/风格因子、集中度、容量和流动性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持仓与既定策略不一致、风格暴露跨越阈值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905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半年度复核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收益归因、聚类标签、团队稳定性和组合适配度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标签持续迁移、超额收益来源弱化或相关性上升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事件触发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管理人变更、授权变化、规模突变、杠杆变化及合规声誉事件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89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即时启动重新尽调、降权、替换或退出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A5D04-8937-4945-8F9C-AA971FC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14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风险偏好扩张期　｜　市场震荡分化期　｜　风险释放期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6de20d13449b6"/>
          <a:stretch xmlns:a="http://schemas.openxmlformats.org/drawingml/2006/main"/>
        </p:blipFill>
        <p:spPr>
          <a:xfrm xmlns:a="http://schemas.openxmlformats.org/drawingml/2006/main">
            <a:off x="7126690" y="2457450"/>
            <a:ext cx="3844119" cy="2476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E37EA-7F6B-41DE-BA54-9335D21D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695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9579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9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持续跟踪形成管理动作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月度监测表现、季度穿透持仓与因子、半年度复核归因和标签；事件触发即时重新尽调，最终形成保留、降权、替换或退出。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53CD1-B95E-4E00-99C2-DEB21267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695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A7621-BF8E-4077-84C6-701F6530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67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846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99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专户管理人范围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99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内部投资经理与合作机构投资经理统一分类、统一跟踪；另加合同授权和运营约束。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C1E8F-E931-45AF-A82D-47E6186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66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6.1  固收与专户 · 市场环境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固收收益率曲线低位陡峭，久期与票息需要分层管理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截至2026-07-27的辅助素材显示：短端较锚定，长端仍保留期限溢价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6｜固收与专户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F6DF2BE2-2DFA-1C03-677D-BDC2260D6D92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21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5e720ca0f4d05"/>
          <a:stretch xmlns:a="http://schemas.openxmlformats.org/drawingml/2006/main"/>
        </p:blipFill>
        <p:spPr>
          <a:xfrm xmlns:a="http://schemas.openxmlformats.org/drawingml/2006/main">
            <a:off x="753774" y="1476375"/>
            <a:ext cx="4978977" cy="28575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ff714413742d5"/>
          <a:stretch xmlns:a="http://schemas.openxmlformats.org/drawingml/2006/main"/>
        </p:blipFill>
        <p:spPr>
          <a:xfrm xmlns:a="http://schemas.openxmlformats.org/drawingml/2006/main">
            <a:off x="6433705" y="1476375"/>
            <a:ext cx="4849091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B3CC6-3560-4092-A77B-91502390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3A330-0AD2-49B9-9904-6693482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39992-C4EC-414E-880E-64B9C7C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全曲线下移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AB6E6-2F72-4BA9-8723-CD8DC99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1Y / 10Y / 30Y收益率较2024年明显下台阶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63A00-9648-4E6C-AC40-267E53A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2437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DEDE5-28C0-474C-9429-2366CBCB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243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D548E-E4B3-4182-9DE6-8B86E9EA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6005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形态陡峭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21DFC-FBAE-4F14-873F-8D445B9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0537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长端期限溢价仍在，长久期交易需要择时与回撤约束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10E9C-A280-4D52-8731-583AA976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3EAC2-CBE7-405F-9098-F03CE3A0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1D76C-39C3-4E81-A2BF-1C048A4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005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短端锚定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C2026-3620-4A01-9EB6-970E5294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0537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短端加杠杆的息差空间被压平，流动性管理更重要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6.2  固收与专户 · 分层策略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固收按短久期、中等久期、长久期交易与转债分层取收益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不同来源承担不同功能，避免把所有固收收益都归为“票息”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6｜固收与专户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0BB18BA8-60F4-C50D-CD9B-1BB87D3E8506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22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DA17F-2BEC-45BA-A1E0-BD18024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0F416-405B-415E-860B-86DA8DC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AC28B-6F2F-47FF-A340-D997B31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短久期票息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0E41C-23DC-46EB-9844-12A28277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0.5–1.5Y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净值波动较低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承担流动性底仓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1E87F-C7FD-425B-9BE8-262851A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86EF0-4A2B-422B-98DD-F2C6B5D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CEBEF-E5AF-482B-92BB-F2EB97C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049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中等久期配置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84742-46DB-42B1-92D8-A33CE015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2–4Y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票息与资本利得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承担核心积累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DE10F-6706-42DC-AACE-1DBA53D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576E2-AAB9-4F07-B2A2-27B22731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D6E45-D01C-420C-B0EE-5D12569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长久期交易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A22F9-6F34-446A-A179-D445B766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7–30Y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低利率下的弹性来源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强调择时与止盈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F24F9-C24F-4BE7-85FF-94A4261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24991-C17C-49B5-A088-FFFFB63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B1DF6-FFAE-40D8-B7D7-8F709B7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49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可转债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A1959-8C87-439C-AC70-A9D8F09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债底 + 正股 + 波动率</a:t>
            </a: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连接固收与权益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73a3fb3cd4c29"/>
          <a:stretch xmlns:a="http://schemas.openxmlformats.org/drawingml/2006/main"/>
        </p:blipFill>
        <p:spPr>
          <a:xfrm xmlns:a="http://schemas.openxmlformats.org/drawingml/2006/main">
            <a:off x="1009065" y="3000375"/>
            <a:ext cx="4516020" cy="223837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d9ab702f746b2"/>
          <a:stretch xmlns:a="http://schemas.openxmlformats.org/drawingml/2006/main"/>
        </p:blipFill>
        <p:spPr>
          <a:xfrm xmlns:a="http://schemas.openxmlformats.org/drawingml/2006/main">
            <a:off x="6706770" y="3000375"/>
            <a:ext cx="4398211" cy="22383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43439-807D-4269-BC32-E12ECD9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38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渠道解释：固收增强来自多层收益来源，但每一层都对应不同的久期、信用、流动性与回撤约束。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6.3  固收与专户 · 专户边界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固收专户的价值在可实施性，同时存在明确使用边界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专户应在同策略、同区间、同费后口径下与公募基金比较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6｜固收与专户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A4E99CEF-AF55-BA3C-ADF8-4E52E186DD8F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23</a:t>
            </a:fld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6667500" cy="27679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9833"/>
                <a:gridCol w="2518833"/>
                <a:gridCol w="2518833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委外专户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公募基金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87216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综合费率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管理费可协商，无申赎摩擦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管理费+托管费+销售服务费等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216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持仓透明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每日估值，可穿透到每一只券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定期披露，存在信息时滞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87216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信用与久期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可写入合同并设置单一主体约束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受基金合同与组合管理约束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216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流动性安排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开放频率与回款机制可约定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统一账户和开放安排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2304B-0D6E-4EA5-80AA-F87523E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905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26214-2120-4389-B7E7-3308536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C69FC-047E-45A6-A32E-1CA102C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049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成本更薄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4CB60-5034-4E55-A553-55A1C9E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费率结构可协商，减少部分长期直接沉淀为组合净收益的摩擦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32C9B-79F4-4310-84E8-BCF8123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905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4662E-983F-48DE-A285-CE30AA31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58FA9-71DC-4071-A119-10389683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527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风险可控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0AD04-C613-4957-B51B-B6E62E8E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集中度、久期上限、入库标准与合同约束可统一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1950C-26B9-4AF5-A5E2-6E4BDCF2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905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2C44F-F4E0-4282-9F07-B11261B7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630EF-F7CC-474D-8C90-A2C7CF7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激励对齐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19D7A-234F-424A-8A6F-A3C469D4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367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业绩基准与超额分成可与本产品考核口径一致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D9440-1793-4630-A802-0C03CD7A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86AC6-126D-43CA-9CC5-76E9A8C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短久期固收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F5AD1-36FE-4364-9AE4-1A4889A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71B2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971B2F"/>
                </a:solidFill>
                <a:latin typeface="宋体"/>
                <a:ea typeface="宋体"/>
                <a:cs typeface="宋体"/>
              </a:rPr>
              <a:t>30 / 90天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5831-4CD6-488A-B5BE-8742C55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FEF7C-4914-407B-A74E-06E95C0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387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中等久期配置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B9B12-20AB-4F6F-BC69-1EE6A96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71B2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971B2F"/>
                </a:solidFill>
                <a:latin typeface="宋体"/>
                <a:ea typeface="宋体"/>
                <a:cs typeface="宋体"/>
              </a:rPr>
              <a:t>90 / 180 / 365天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B289A-7A0A-4250-8EA3-2B462D2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FAA01-FD6D-49C5-B85A-B9311D0A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长久期交易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9671B-E70F-4915-B87E-BF26222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71B2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971B2F"/>
                </a:solidFill>
                <a:latin typeface="宋体"/>
                <a:ea typeface="宋体"/>
                <a:cs typeface="宋体"/>
              </a:rPr>
              <a:t>180 / 365天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B0BD9-2039-47C4-A4FA-C57123E0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62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339016-26D3-41BF-8B56-24A1EAA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387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可转债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25F54-981C-4256-A9DF-0D5BB58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71B2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971B2F"/>
                </a:solidFill>
                <a:latin typeface="宋体"/>
                <a:ea typeface="宋体"/>
                <a:cs typeface="宋体"/>
              </a:rPr>
              <a:t>以180 / 365天为主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6.4  固收与专户 · REITs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公募REITs在价格调整后提供长期实物资产配置价值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辅助素材截至2026-07-27；渠道应同时说明阶段回撤、收益结构和仓位纪律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6｜固收与专户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4A59AF09-D197-0193-A7DE-FAAF0B691058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24</a:t>
            </a:fld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b6cccad22446d"/>
          <a:stretch xmlns:a="http://schemas.openxmlformats.org/drawingml/2006/main"/>
        </p:blipFill>
        <p:spPr>
          <a:xfrm xmlns:a="http://schemas.openxmlformats.org/drawingml/2006/main">
            <a:off x="647700" y="1545648"/>
            <a:ext cx="6191250" cy="281420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86F8A-15D4-4BCC-A4CF-36C3033D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0D851-A612-4FD3-9F33-89D1A7CF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228725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4.24%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696C3-8D6B-4D4C-9A82-21F948D4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2449"/>
            <a:ext cx="1228725" cy="273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年化收益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F89DF-7BCD-4373-AA63-4850FA2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B71BB-821B-4C22-991D-1C3606B4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714875"/>
            <a:ext cx="1228725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8.91%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5DFE2-A370-45F7-A053-73C4C511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112449"/>
            <a:ext cx="1228725" cy="273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年化波动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4498F-5CE6-4D35-A918-80EF2FE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503DF-C599-4E52-BE9F-E1F8D701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1228725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-17.40%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03E41-7ABE-4C83-9700-FEF348A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12449"/>
            <a:ext cx="1228725" cy="273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最大回撤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00E8F-EC6A-44BC-B1DA-0A272DE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67250"/>
            <a:ext cx="1704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D1DDA-D55E-4672-8D7B-6B0748DB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714875"/>
            <a:ext cx="1552575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217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-7.06%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6EF71-67FA-442A-9BFD-C17FEA14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112449"/>
            <a:ext cx="1552575" cy="273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2026年以来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C8B47-E768-48A3-BAEC-6A3104C4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4381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88C48-49EF-4E85-BBD4-29E33E18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91DF4-0E8C-4BD3-9905-D181189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1｜价格端风险已较充分释放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2FBD2-9B59-4E7A-ADB3-ABB4F13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阶段回撤显著，说明REITs并非低波动替代品；配置前需确认客户承受能力。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DDABA-D86C-468A-9C4A-2DE6F582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4381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12CFB-B8CC-4CF8-A38D-3644EEC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7FFDB-AADF-4BD6-BDC8-35594BB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2｜收益结构偏长期实物资产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6C757-DB15-4B3C-A360-D5FD381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经营权类现金流可预测性较强，是组合中相对稀缺的长期收益来源。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F289B-2E5F-49D4-9DCD-73BD6CB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4381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EE32F-7DE5-440E-80CD-6647D69B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47983-E69B-4F41-BE3C-95D56A7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3｜建仓节奏与限额纪律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CCBDFD-2AAC-4FDD-84D6-53ECC68E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分批建仓、单项目限额与总仓位约束，控制价格和流动性风险。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072DB0-9D46-498E-82C1-696B399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43815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BE8338-90AA-4A9F-A723-E6369740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088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日收益相关系数：全债0.13｜转债0.14｜沪深300 0.09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7.1  策略积木块 · 组合搭建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同为10%高波动资产，不同积木块组合会形成不同产品特征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防御、均衡和成长三种搭法服务不同客户目标；正式方案须与产品SAA和风险预算一致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7｜策略积木块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F3AE1AE4-D79E-94D6-E825-3FC6C21A77D2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25</a:t>
            </a:fld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6191250" cy="368522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9388"/>
                <a:gridCol w="1317287"/>
                <a:gridCol w="1317287"/>
                <a:gridCol w="1317287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9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策略积木块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9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防御收益型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9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均衡配置型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9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成长增强型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红利价值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低波权益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宽基Beta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科技成长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小盘成长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可转债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黄金及商品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公募REITs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6290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6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6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158DE-E189-4D9B-AAA2-1E2EF98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防御收益型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925AC-EC38-4D7D-A898-B628E12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46CFD-92D0-409C-A355-25CA55D6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954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红利价值 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C1728-6DC7-4F0C-B943-C6FE3E80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859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A044E-2572-414C-A206-F15E059B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95475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低波权益 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86E3C-CBEE-4C2C-9132-BBD20E1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85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CD9D6-EEA3-48DE-B08E-77F872C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885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D1BB9-0DC7-4771-8AC2-CB901EC1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954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其他 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CC4A3-3140-4D04-B080-B48A82B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改善波动与现金流特征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35646-4144-45FC-B15C-DCECE004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均衡配置型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48415-00F1-497C-B766-E2C3752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1CFCE-3B0C-4B51-BD2A-4EAA827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813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红利价值 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2CB99-E9D7-4720-AA7B-7CE1670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71825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F7929-5031-4D63-ADC1-EBAE2AC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813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宽基Beta 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64D9E-FC4C-4487-877F-8A022C4C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71825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B1742-9D4E-41AC-8E11-23036193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813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科技成长 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FA5FE-E0E0-40FB-B7C9-CF8A712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71825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E1419-2234-45F6-AC28-B360842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813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其他 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49E49-5A4D-4F42-92CB-B36EF5A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平衡增长与分散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55209-FEF7-454F-8670-B2A4EC16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9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75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成长增强型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AE5ED9-B928-40A0-B8A7-21D237B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57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3D6ED9-BCE0-4ACC-80D9-AA59551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科技成长 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8DB3F-55A4-4361-BE5B-0E39D90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577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41D15-D53E-47D9-8B0D-F61E044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67225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小盘成长 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058479-2BD1-45E7-A530-B23FDC0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4577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4FD5E-DB7D-477F-A4DF-B502F709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4577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6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710747-854D-416F-8FD0-CD456B3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467225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938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其他 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488A7-7F14-4995-A3B8-273F4C3A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57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提高上行弹性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7.2  策略积木块 · 情景检验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历史情景用于解释管理机制，不用于预测未来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回放关注当时可获得的数据，并把市场问题转化为可执行的组合管理启示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7｜策略积木块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5AB55966-FA28-BC73-EA9E-53DF014DF033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26</a:t>
            </a:fld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7983"/>
                <a:gridCol w="2809280"/>
                <a:gridCol w="2809280"/>
                <a:gridCol w="3320058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情景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主要问题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模型关注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组合管理启示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2018年权益风险偏好下行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权益Beta和成长风格风险上升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波动率、下行相关性、估值和趋势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控制成长预算，增加防御和流动性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2020年初跨资产冲击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相关性和流动性短期失真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压力矩阵、现金需求和尾部风险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降低低流动性风险，分阶段恢复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2024年初小微盘冲击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风格拥挤和流动性风险释放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小盘Beta、拥挤度、容量和流动性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收紧容量，增加宽基和红利分散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2024年9月后风格切换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趋势转正但波动和拥挤上升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趋势、估值、成交和相关性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分批增加风险预算并及时再平衡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E5D2A-581C-4C3C-A734-9BA80ED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938F2-7AA3-49DB-9268-F7283FF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10779-13BA-4676-879C-871C462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渠道表达1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3FA34-C093-4EF2-8878-E6141D22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9938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市场冲击首先改变风险贡献，不是简单判断涨跌。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5B3BC-D6D3-449C-8977-E7A539E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0ACE8-4596-49AD-AC60-9E4DBD95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C146A-A887-40FD-B710-06B5BF5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29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渠道表达2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9ACE7-83A3-42CB-A387-ADC4F923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34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调整围绕流动性、集中度和风险预算展开。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E7105-F5D0-4E31-8C3F-9EDA65F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5F39D-C3EA-42C6-9AD0-12924B1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35247-A35E-44BB-B61B-33FC09AC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29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渠道表达3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39F64-CF1C-4722-A3DE-F2BF42A9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34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088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阶段调整有退出条件，最终回归SAA中枢。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8.1  质量控制 · 诊断框架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质量控制用净值、基准与归因持续验证产品是否偏离定位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渠道看到的不只是结果，还包括偏离来源和后续处理方向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8｜质量控制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02F15020-66A7-620A-7B7A-C05C4312DEAE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27</a:t>
            </a:fld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581025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3126"/>
                <a:gridCol w="2416144"/>
                <a:gridCol w="2070980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控制模块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主要检查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主要输出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组合构建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是否符合矩阵定义、SAA、风险预算、流动性和监管约束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组合检查表、风险预算和约束结果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板块配置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实际配置与SAA中枢、TAA偏离及各积木块风险贡献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配置偏离、风格、久期、信用和流动性暴露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单位净值走势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实际净值与合成指数基准的累计差异和滚动偏离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净值、基准、滚动超额、波动率和回撤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收益归因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按积木块拆分收益、风险、下行及Alpha贡献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归因瀑布图、风险贡献和异常清单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调整建议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偏离是否改变产品长期特征及应如何处理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调整方向、幅度、触发、退出和复核时间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19795d24547ca"/>
          <a:stretch xmlns:a="http://schemas.openxmlformats.org/drawingml/2006/main"/>
        </p:blipFill>
        <p:spPr>
          <a:xfrm xmlns:a="http://schemas.openxmlformats.org/drawingml/2006/main">
            <a:off x="7257799" y="1428750"/>
            <a:ext cx="3772401" cy="204787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66bc38f5c49ec"/>
          <a:stretch xmlns:a="http://schemas.openxmlformats.org/drawingml/2006/main"/>
        </p:blipFill>
        <p:spPr>
          <a:xfrm xmlns:a="http://schemas.openxmlformats.org/drawingml/2006/main">
            <a:off x="7477125" y="3619500"/>
            <a:ext cx="3333750" cy="180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3F3A2-4D93-4C48-BFC9-7882751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38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诊断顺序：实际净值 vs 基准 → 策略积木块归因 → 风险贡献与异常清单 → 调整建议。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8.2  质量控制 · 动态调整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动态调整从识别偏离开始，以回归SAA中枢结束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不同偏离需要不同参数校准与TAA操作，避免把短期行情变成永久风格漂移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8｜质量控制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68AD4375-9F50-F53A-6F9F-DD8473067C05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28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6AC5E-39B2-4B32-A938-0997533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1567053"/>
            <a:ext cx="1714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9F60F-365D-4E31-9945-4DA7278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1567053"/>
            <a:ext cx="1714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DEC07-0A6C-4599-AE9E-DEFDC5D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67053"/>
            <a:ext cx="1714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2F4A1-2CC5-4553-B3E0-7C1901E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1567053"/>
            <a:ext cx="1714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27090-2768-42A0-8988-02FB296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1567053"/>
            <a:ext cx="17145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360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65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5FCBA-512D-4C90-9BDF-2B89B0C6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245EF-D49C-4319-A2DF-8DD13CB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发现偏离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29E91-4FA4-4107-AA97-0CDFD46C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2CA41-8FAC-4A68-A3AF-EC4CBB2C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完成归因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92896-1264-4C23-A3D1-32E3F1D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9C624-9436-4043-9E35-C8793813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判断性质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6EA01-6CB6-41B7-A04F-8CE8B020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056B5-6724-4B4C-B030-E74072C3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提出建议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546A6-A2B5-401B-BE5A-63F1E63B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D3A8E-74E9-4BC1-A819-9D229397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投资决策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9B33C-CE03-4051-AFB8-6D4108F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1428750"/>
            <a:ext cx="16605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19050">
            <a:solidFill>
              <a:srgbClr val="971B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0A371-3998-4158-9C26-832EC42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1476375"/>
            <a:ext cx="1527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200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执行复核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647700" y="2381250"/>
          <a:ext xmlns:a="http://schemas.openxmlformats.org/drawingml/2006/main" cx="10896600" cy="26136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933700"/>
                <a:gridCol w="2849880"/>
                <a:gridCol w="3101340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情景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质量控制发现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参数校准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TAA操作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4864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债券市场快速调整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固收波动、久期风险和流动性折价上升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提高固收压力波动率和赎回假设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降低杠杆与久期，增加可变现资产，避免机械抛售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权益风格快速切换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成长或小盘风险贡献和簇内相关性上升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提高拥挤度和流动性折扣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降低集中风格，增加宽基和红利分散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股债相关性转正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传统股债分散效果下降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提高压力相关性矩阵权重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增加现金、黄金或对冲策略预算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管理人Alpha变化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实际净值持续弱于同簇基准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降低管理人置信度和容量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13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先进行簇内替换，避免改变产品长期风格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50A6E-3D1C-4F9B-9917-9179016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89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2A35"/>
          </a:solidFill>
          <a:ln xmlns:a="http://schemas.openxmlformats.org/drawingml/2006/main" w="9525">
            <a:solidFill>
              <a:srgbClr val="202A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DC7C9-0211-4CF6-B665-06E1EF8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238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调整有幅度、有期限、有退出；条件满足后，组合逐步回归SAA，而非持续追逐行情。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9.1  渠道服务 · 服务闭环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渠道服务围绕“看得懂、卖得准、拿得住”形成闭环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服务内容与产品管理体系一一对应，既支持销售，也支持客户持有期沟通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9｜渠道服务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41680313-6E64-04FF-399A-57B7CADE95A9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29</a:t>
            </a:fld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0275"/>
                <a:gridCol w="4610100"/>
                <a:gridCol w="4086225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服务目标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主要服务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渠道及客户价值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看得懂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多资产市场分析、产品表现、净值与基准、积木块归因、调仓说明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理解产品为什么涨跌、是否仍符合定位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卖得准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产品矩阵、客户匹配、案例卡、比较工具、培训、话术和反向提示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提高客户和产品匹配准确性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拿得住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建仓说明、波动及回撤沟通、重大事件材料、持有期节点和行为分析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改善客户对净值波动的理解和持有体验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0D42D-125C-43FB-B1CE-29B4E68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333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DDB0B-7093-4A29-AE00-DC3A957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41320-F952-493E-90DC-3983B271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售前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AB98B-1744-4ABB-A6D6-8A7A4E9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产品矩阵、客户匹配、培训与销售话术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416AE-E62E-4CB3-89E7-8C42729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3333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FBE7C-39A5-4BFC-872C-C96FABAC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5A03E-370B-41C3-A86B-500804DA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86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持有期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77888-5316-453F-88AA-5C7F511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19112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市场观点、净值解释、回撤与行为陪伴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62061-BFEC-4FEF-AC3C-9F88366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333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8E967-62F9-493A-8B9F-24B44B8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3AEFF-2894-4E81-999C-453D56C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86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35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86E86-BE44-48FF-B862-CFC2259B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9112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163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63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积木块归因、偏离诊断、调整与后续观察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9.2  渠道服务 · 触发机制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常规频率与特殊触发共同管理客户体验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净值、基准或策略明显偏离时主动触发专项材料，不等待固定报告周期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9｜渠道服务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5FEBBBCE-9E16-527A-0EE3-E5839422D847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30</a:t>
            </a:fld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35566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27844"/>
                <a:gridCol w="2534093"/>
                <a:gridCol w="4434663"/>
              </a:tblGrid>
              <a:tr h="419100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服务内容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常规频率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特殊触发</a:t>
                      </a:r>
                    </a:p>
                  </a:txBody>
                  <a:tcPr marL="91440" marR="91440" marT="45720" marB="45720">
                    <a:solidFill>
                      <a:srgbClr val="971B2F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市场及资产配置观点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周度或月度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重大政策和市场变化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产品表现报告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月度或季度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净值或基准明显偏离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策略积木块归因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月度或季度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单一策略表现异常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渠道产品培训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发行前及定期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产品定位或市场特征变化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客户陪伴材料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持有期关键节点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净值回撤或波动明显放大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923"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88" b="1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产品质量复盘</a:t>
                      </a:r>
                    </a:p>
                  </a:txBody>
                  <a:tcPr marL="91440" marR="91440" marT="45720" marB="45720">
                    <a:solidFill>
                      <a:srgbClr val="EDF1F4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季度或半年度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47625" tIns="19050" rIns="47625" bIns="19050" anchor="ctr">
                      <a:norm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88" b="0">
                          <a:solidFill>
                            <a:srgbClr val="202A35"/>
                          </a:solidFill>
                          <a:latin typeface="宋体"/>
                          <a:ea typeface="宋体"/>
                          <a:cs typeface="宋体"/>
                        </a:rPr>
                        <a:t>产品特征持续偏离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65162-C769-495F-B5FD-A0E6B716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8966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971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DC499-BBB9-478A-BFD2-26163D3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163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触发机制的目的不是增加材料，而是在客户最需要解释的时点提供统一、及时、可行动的信息。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9.3  渠道服务 · 销售话术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销售话术按“问需求—定单元—讲机制—做陪伴”展开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避免从短期行情切入，也避免把模拟数据和历史表现表述为收益承诺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9｜渠道服务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D172A7C5-A0CC-7B36-F236-345181E6AD72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31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F04AC-60A1-4B5C-BF2A-1100EE0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1｜问需求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资金使用时间？
可接受多大净值波动？
更看重稳定、增利还是成长？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73257-04B0-45DD-A8FC-274F09B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8E"/>
          </a:solidFill>
          <a:ln xmlns:a="http://schemas.openxmlformats.org/drawingml/2006/main" w="0">
            <a:solidFill>
              <a:srgbClr val="3E6E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0C09C-7D82-40B5-B151-1B4BF0A8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2｜定单元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用期限 × 风险风格锁定矩阵
说明最低与推荐持有期
确认适当性与流动性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F2A9B-94B4-4E3F-94CC-323E5E8D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A35"/>
          </a:solidFill>
          <a:ln xmlns:a="http://schemas.openxmlformats.org/drawingml/2006/main" w="0">
            <a:solidFill>
              <a:srgbClr val="B68A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2771E-2CE6-43E7-9648-B77FE77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ECEF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3｜讲机制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SAA决定长期特征
TAA只做阶段卫星调整
收益来自哪些资产与积木块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99569-FD5D-4EB1-970D-C62A873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1B2F"/>
          </a:solidFill>
          <a:ln xmlns:a="http://schemas.openxmlformats.org/drawingml/2006/main" w="0">
            <a:solidFill>
              <a:srgbClr val="971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E442E-2D59-499C-946A-4C1A74D6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33350" tIns="104775" rIns="1333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7"/>
              </a:spcAft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4｜做陪伴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20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持续比较净值与基准
波动时解释归因和后续观察
特殊触发主动沟通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BEEB1-D39D-4D26-B717-66B5659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C"/>
          </a:solidFill>
          <a:ln xmlns:a="http://schemas.openxmlformats.org/drawingml/2006/main" w="0">
            <a:solidFill>
              <a:srgbClr val="2F7D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D64C4-EB78-4233-BD6D-FD785E1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02A35"/>
                </a:solidFill>
                <a:latin typeface="黑体"/>
                <a:ea typeface="黑体"/>
                <a:cs typeface="黑体"/>
              </a:defRPr>
            </a:pPr>
            <a:r>
              <a:rPr sz="1500" b="1">
                <a:solidFill>
                  <a:srgbClr val="202A35"/>
                </a:solidFill>
                <a:latin typeface="黑体"/>
                <a:ea typeface="黑体"/>
                <a:cs typeface="黑体"/>
              </a:rPr>
              <a:t>常见异议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76661-95D7-4837-9977-7C691FD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“持有期到了为什么还会波动？”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DB582-2442-41F9-80ED-4C8C1F1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最低持有期是机制要求；推荐持有期才是管理稳定体验的窗口。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7A940-EB5E-4683-A9E3-2D07828B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“为什么不全部买表现最好的基金？”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C81E6-CB69-4502-BCD4-C06FEEF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863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单只基金优秀不等于能改善组合整体波动、回撤和流动性。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93686-7800-4EE8-BE07-411C574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71B2F"/>
                </a:solidFill>
                <a:latin typeface="黑体"/>
                <a:ea typeface="黑体"/>
                <a:cs typeface="黑体"/>
              </a:defRPr>
            </a:pPr>
            <a:r>
              <a:rPr sz="1125" b="1">
                <a:solidFill>
                  <a:srgbClr val="971B2F"/>
                </a:solidFill>
                <a:latin typeface="黑体"/>
                <a:ea typeface="黑体"/>
                <a:cs typeface="黑体"/>
              </a:rPr>
              <a:t>“调整是不是改变了产品定位？”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F43E6-4B43-4699-88C9-4883552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TAA在授权范围内管理阶段偏离，退出后回到SAA中枢。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BC80BCB-2467-4350-B2A3-31A69D95B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10.1  对外口径 · 素材清单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对外图表统一口径，少量关键素材位保留精炼补充提示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D62E9CCD-9BDC-4945-B8AF-6B6C0CFB07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870" y="536099"/>
            <a:ext cx="11041227" cy="73266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350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所有正式数据必须明确区间、费用、基准、参数版本及实盘/回测/模拟属性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9B04CC5-50FB-427F-87DD-98E1A80C735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71B2F"/>
                </a:solidFill>
                <a:latin typeface="楷体"/>
                <a:ea typeface="楷体"/>
                <a:cs typeface="楷体"/>
              </a:defRPr>
            </a:pPr>
            <a:r>
              <a:rPr sz="1275">
                <a:solidFill>
                  <a:srgbClr val="971B2F"/>
                </a:solidFill>
                <a:latin typeface="楷体"/>
                <a:ea typeface="楷体"/>
                <a:cs typeface="楷体"/>
              </a:rPr>
              <a:t>10｜对外口径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29F04C0-D86C-4980-A346-D3CA1E157C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66C3428B-053E-6B4E-39FF-75B44F3F33F6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32</a:t>
            </a:fld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434EF-8E40-4140-9EEF-F7250F1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P-01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定位与公募FOF比较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突出场景与能力差异，避免绝对优劣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4E21B-A1EC-452B-AC67-E0B1F9B3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2875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M-01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矩阵与持有期测算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最低/推荐持有期、费用与再平衡一致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0B5EC-717F-45D6-B0F6-F2AE6D6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C-01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六类产品案例卡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SAA、TAA、基准与数据区间一致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462D-8820-4CD6-85BD-931C1AC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5270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B-01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统一分类与工具聚类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同观察期、同频率、费后净值和统一因子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4EBFB-EA8C-4537-8DCE-C73B46E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FI-01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固收与转债专户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同策略、同区间、同费用和同基准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FC246-FFE1-46D0-BD08-E1D60DAD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76650"/>
            <a:ext cx="5191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  <p:txBody>
          <a:bodyPr xmlns:a="http://schemas.openxmlformats.org/drawingml/2006/main" lIns="152400" tIns="95250" rIns="1524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Q-01     </a:t>
            </a:r>
            <a:r>
              <a:rPr sz="1088" b="1">
                <a:solidFill>
                  <a:srgbClr val="536171"/>
                </a:solidFill>
                <a:latin typeface="宋体"/>
                <a:ea typeface="宋体"/>
                <a:cs typeface="宋体"/>
              </a:rPr>
              <a:t>质量控制图表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>
                <a:solidFill>
                  <a:srgbClr val="536171"/>
                </a:solidFill>
                <a:latin typeface="宋体"/>
                <a:ea typeface="宋体"/>
                <a:cs typeface="宋体"/>
              </a:defRPr>
            </a:pPr>
            <a:r>
              <a:rPr sz="1088">
                <a:solidFill>
                  <a:srgbClr val="536171"/>
                </a:solidFill>
                <a:latin typeface="宋体"/>
                <a:ea typeface="宋体"/>
                <a:cs typeface="宋体"/>
              </a:rPr>
              <a:t>净值、基准、归因与实际账簿一致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8BC04-6B29-43FF-9134-0DC8FB92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9525">
            <a:solidFill>
              <a:srgbClr val="B68A35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725514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725514"/>
                </a:solidFill>
                <a:latin typeface="宋体"/>
                <a:ea typeface="宋体"/>
                <a:cs typeface="宋体"/>
              </a:rPr>
              <a:t>建议补充（精炼）     </a:t>
            </a:r>
            <a:r>
              <a:rPr sz="1200">
                <a:solidFill>
                  <a:srgbClr val="725514"/>
                </a:solidFill>
                <a:latin typeface="宋体"/>
                <a:ea typeface="宋体"/>
                <a:cs typeface="宋体"/>
              </a:rPr>
              <a:t>经复核的六类产品净值与基准｜一页式客户案例卡｜重大波动归因图｜动态调整案例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>
                <a:solidFill>
                  <a:srgbClr val="725514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725514"/>
                </a:solidFill>
                <a:latin typeface="宋体"/>
                <a:ea typeface="宋体"/>
                <a:cs typeface="宋体"/>
              </a:rPr>
              <a:t>对外前统一复核：数据区间、费后口径、基准规则、授权范围和风险揭示。</a:t>
            </a:r>
          </a:p>
        </p:txBody>
      </p:sp>
    </p:spTree>
    <p:extLst>
      <p:ext uri="{BB962C8B-B14F-4D97-AF65-F5344CB8AC3E}">
        <p14:creationId xmlns:p14="http://schemas.microsoft.com/office/powerpoint/2010/main" val="384787235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6FF7F6-AD05-4E2D-914E-BBEED884C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114300" tIns="19050" rIns="95250" bIns="19050" anchor="ctr">
            <a:normAutofit fontScale="83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11.1  合作主张 · 结语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共同经营客户的长期持有体验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E79607-ECBF-43D6-8F4F-7C9847819A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 sz="1800" b="1">
                <a:solidFill>
                  <a:srgbClr val="202A35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202A35"/>
                </a:solidFill>
                <a:latin typeface="楷体"/>
                <a:ea typeface="楷体"/>
                <a:cs typeface="楷体"/>
              </a:rPr>
              <a:t>以产品矩阵为共同语言</a:t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  <a:defRPr sz="1800" b="1">
                <a:solidFill>
                  <a:srgbClr val="202A35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202A35"/>
                </a:solidFill>
                <a:latin typeface="楷体"/>
                <a:ea typeface="楷体"/>
                <a:cs typeface="楷体"/>
              </a:rPr>
              <a:t>以持有期数据为客户沟通依据</a:t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  <a:defRPr sz="1800" b="1">
                <a:solidFill>
                  <a:srgbClr val="202A35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202A35"/>
                </a:solidFill>
                <a:latin typeface="楷体"/>
                <a:ea typeface="楷体"/>
                <a:cs typeface="楷体"/>
              </a:rPr>
              <a:t>以积木块归因和质量控制保持产品特征稳定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  <a:defRPr sz="1800" b="1">
                <a:solidFill>
                  <a:srgbClr val="202A35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202A35"/>
                </a:solidFill>
                <a:latin typeface="楷体"/>
                <a:ea typeface="楷体"/>
                <a:cs typeface="楷体"/>
              </a:rPr>
              <a:t>共同经营客户的长期持有体验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  <a:defRPr sz="1800" b="1">
                <a:solidFill>
                  <a:srgbClr val="202A35"/>
                </a:solidFill>
                <a:latin typeface="楷体"/>
                <a:ea typeface="楷体"/>
                <a:cs typeface="楷体"/>
              </a:defRPr>
            </a:pPr>
            <a:r>
              <a:rPr sz="1800" b="1">
                <a:solidFill>
                  <a:srgbClr val="202A35"/>
                </a:solidFill>
                <a:latin typeface="楷体"/>
                <a:ea typeface="楷体"/>
                <a:cs typeface="楷体"/>
              </a:rPr>
              <a:t>本材料用于产品方案交流，不构成收益承诺或投资建议。</a:t>
            </a:r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B8B6398-DB55-4256-AE16-5E5229CA46CA}"/>
              </a:ext>
            </a:extLst>
          </p:cNvPr>
          <p:cNvSpPr>
            <a:spLocks xmlns:a="http://schemas.openxmlformats.org/drawingml/2006/main" noGrp="1"/>
          </p:cNvSpPr>
          <p:nvPr>
            <p:ph type="ftr" idx="4294967295"/>
          </p:nvPr>
        </p:nvSpPr>
        <p:spPr>
          <a:xfrm xmlns:a="http://schemas.openxmlformats.org/drawingml/2006/main">
            <a:off x="623393" y="6208776"/>
            <a:ext cx="5502856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r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泛FOF型多资产理财产品方案｜渠道合作</a:t>
            </a:r>
          </a:p>
        </p:txBody>
      </p:sp>
      <p:sp>
        <p:nvSpPr>
          <p:cNvPr id="5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CEDA5A87-E88A-47FB-9C25-1BB25390AE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pPr algn="r">
              <a:defRPr sz="1125">
                <a:solidFill>
                  <a:srgbClr val="7B8794"/>
                </a:solidFill>
                <a:latin typeface="宋体"/>
                <a:ea typeface="宋体"/>
                <a:cs typeface="宋体"/>
              </a:defRPr>
            </a:pPr>
            <a:fld id="{59F9B2FD-F323-2D0A-D581-D6E61055F9A8}" type="slidenum">
              <a:rPr sz="1125">
                <a:solidFill>
                  <a:srgbClr val="7B8794"/>
                </a:solidFill>
                <a:latin typeface="宋体"/>
                <a:ea typeface="宋体"/>
                <a:cs typeface="宋体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1094900709"/>
      </p:ext>
    </p:extLst>
  </p:cSld>
</p:sld>
</file>

<file path=ppt/theme/theme1.xml><?xml version="1.0" encoding="utf-8"?>
<a:theme xmlns:a="http://schemas.openxmlformats.org/drawingml/2006/main" name="Bank of China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lumMod val="88000"/>
                <a:satMod val="200000"/>
              </a:schemeClr>
            </a:gs>
            <a:gs pos="100000">
              <a:schemeClr val="phClr">
                <a:tint val="53000"/>
                <a:shade val="100000"/>
                <a:lumMod val="79000"/>
                <a:satMod val="3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lumMod val="90000"/>
                <a:satMod val="220000"/>
                <a:alpha val="10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lumMod val="93000"/>
                <a:satMod val="100000"/>
                <a:alpha val="100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>
          <a:solidFill>
            <a:schemeClr val="phClr"/>
          </a:solidFill>
          <a:prstDash val="solid"/>
        </a:ln>
        <a:ln w="22225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2026-07-28T16:21:50.7370000Z</dcterms:created>
  <dcterms:modified xsi:type="dcterms:W3CDTF">2026-07-28T16:21:50.7370000Z</dcterms:modified>
</coreProperties>
</file>